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lasio" panose="020B0604020202020204" charset="0"/>
      <p:regular r:id="rId13"/>
    </p:embeddedFont>
    <p:embeddedFont>
      <p:font typeface="Libre Franklin" pitchFamily="2" charset="0"/>
      <p:regular r:id="rId14"/>
      <p:italic r:id="rId15"/>
    </p:embeddedFont>
    <p:embeddedFont>
      <p:font typeface="Libre Franklin Bold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9167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93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Learning Management: Online Quiz System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37797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Service-Oriented Platform for Creating, Conducting, and Managing Online Assessments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94024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402B2C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65075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Course &amp; Department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135041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Course:</a:t>
            </a: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24SDCS03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Department:</a:t>
            </a: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CSE, KLH Bowrampet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Guide:</a:t>
            </a: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Navyatha Ravi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341451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Team Members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3898801"/>
            <a:ext cx="520379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Bhashetty Shaanvi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Deeksha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Manaswi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Srija</a:t>
            </a:r>
            <a:endParaRPr lang="en-US" sz="14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27B613-4C26-4D1E-3D07-62DC21F64C86}"/>
              </a:ext>
            </a:extLst>
          </p:cNvPr>
          <p:cNvSpPr/>
          <p:nvPr/>
        </p:nvSpPr>
        <p:spPr>
          <a:xfrm>
            <a:off x="11035553" y="6463553"/>
            <a:ext cx="1156447" cy="302419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59644"/>
            <a:ext cx="1270960" cy="287139"/>
          </a:xfrm>
          <a:prstGeom prst="roundRect">
            <a:avLst>
              <a:gd name="adj" fmla="val 2654"/>
            </a:avLst>
          </a:prstGeom>
          <a:solidFill>
            <a:srgbClr val="F7EB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79" y="1027609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1016298"/>
            <a:ext cx="142692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OVERVIEW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3223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Overview &amp; Problem Statement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2385516"/>
            <a:ext cx="5770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the System Provides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2869803"/>
            <a:ext cx="5770220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Online quiz creation and conducting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Secure student access and role-based control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Automated evaluation of objective questions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Question and quiz management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Result and performance tracking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Scalable service-oriented architecture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763077" y="2196505"/>
            <a:ext cx="4909519" cy="2884289"/>
          </a:xfrm>
          <a:prstGeom prst="roundRect">
            <a:avLst>
              <a:gd name="adj" fmla="val 983"/>
            </a:avLst>
          </a:prstGeom>
          <a:solidFill>
            <a:srgbClr val="F5E6C8"/>
          </a:solidFill>
          <a:ln/>
        </p:spPr>
      </p:sp>
      <p:sp>
        <p:nvSpPr>
          <p:cNvPr id="9" name="Text 6"/>
          <p:cNvSpPr/>
          <p:nvPr/>
        </p:nvSpPr>
        <p:spPr>
          <a:xfrm>
            <a:off x="6952084" y="2569766"/>
            <a:ext cx="45315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Challenges Being Addressed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952084" y="3054052"/>
            <a:ext cx="4531505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Manual quiz preparation and evaluation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Delayed feedback and result generation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Managing large numbers of students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Secure role-based access management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Scalability and system maintainability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1475" y="529342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proposed system aims to provide a </a:t>
            </a:r>
            <a:r>
              <a:rPr lang="en-US" sz="145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reliable, secure, scalable, and automated online quiz platform</a:t>
            </a: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for administrators, instructors, and students.</a:t>
            </a:r>
            <a:endParaRPr lang="en-US" sz="14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7D7753-ADA8-5DF9-9BF2-B63E607756A8}"/>
              </a:ext>
            </a:extLst>
          </p:cNvPr>
          <p:cNvSpPr/>
          <p:nvPr/>
        </p:nvSpPr>
        <p:spPr>
          <a:xfrm>
            <a:off x="11044518" y="6463553"/>
            <a:ext cx="1156447" cy="302419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9955"/>
            <a:ext cx="1234250" cy="258465"/>
          </a:xfrm>
          <a:prstGeom prst="roundRect">
            <a:avLst>
              <a:gd name="adj" fmla="val 2948"/>
            </a:avLst>
          </a:prstGeom>
          <a:solidFill>
            <a:srgbClr val="F7EB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69" y="651173"/>
            <a:ext cx="136026" cy="136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7458" y="640953"/>
            <a:ext cx="1435858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OBJECTIVES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909638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kern="0" spc="-6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61475" y="1670844"/>
            <a:ext cx="382677" cy="382687"/>
          </a:xfrm>
          <a:prstGeom prst="roundRect">
            <a:avLst>
              <a:gd name="adj" fmla="val 1991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5221" y="1702693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kern="0" spc="-40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97243" y="1729284"/>
            <a:ext cx="103329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Online Quiz Platform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197243" y="2086769"/>
            <a:ext cx="1033297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Develop a web-based platform for creating, scheduling, and conducting quizzes.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1475" y="2651522"/>
            <a:ext cx="382677" cy="382687"/>
          </a:xfrm>
          <a:prstGeom prst="roundRect">
            <a:avLst>
              <a:gd name="adj" fmla="val 1991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5221" y="2683371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kern="0" spc="-40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97243" y="2709962"/>
            <a:ext cx="103329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Access &amp; Role Management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197243" y="3067447"/>
            <a:ext cx="1033297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Provide authentication and role-based access for Admin, Instructor, and Student.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1475" y="3632200"/>
            <a:ext cx="382677" cy="382687"/>
          </a:xfrm>
          <a:prstGeom prst="roundRect">
            <a:avLst>
              <a:gd name="adj" fmla="val 1991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5221" y="3664049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kern="0" spc="-40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97243" y="3690640"/>
            <a:ext cx="103329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Question &amp; Quiz Management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197243" y="4048125"/>
            <a:ext cx="1033297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Manage subjects, question banks, and quizzes efficiently across services.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1475" y="4612878"/>
            <a:ext cx="382677" cy="382687"/>
          </a:xfrm>
          <a:prstGeom prst="roundRect">
            <a:avLst>
              <a:gd name="adj" fmla="val 1991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5221" y="4644727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kern="0" spc="-40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197243" y="4671318"/>
            <a:ext cx="103329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Automated Evaluation &amp; Results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197243" y="5028803"/>
            <a:ext cx="1033297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Auto-evaluate objective questions, track results, and monitor student performance.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61475" y="5593556"/>
            <a:ext cx="382677" cy="382687"/>
          </a:xfrm>
          <a:prstGeom prst="roundRect">
            <a:avLst>
              <a:gd name="adj" fmla="val 1991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5221" y="5625405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kern="0" spc="-40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197243" y="5651996"/>
            <a:ext cx="103329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Microservice Architecture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197243" y="6009481"/>
            <a:ext cx="1033297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Implement the system using SOA/microservices for modularity and scalability.</a:t>
            </a:r>
            <a:endParaRPr lang="en-US" sz="13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25346B-2EE7-8CB6-FBCB-AAB00F7FAB22}"/>
              </a:ext>
            </a:extLst>
          </p:cNvPr>
          <p:cNvSpPr/>
          <p:nvPr/>
        </p:nvSpPr>
        <p:spPr>
          <a:xfrm>
            <a:off x="11035553" y="6463553"/>
            <a:ext cx="1156447" cy="302419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9041"/>
            <a:ext cx="1885605" cy="268486"/>
          </a:xfrm>
          <a:prstGeom prst="roundRect">
            <a:avLst>
              <a:gd name="adj" fmla="val 2838"/>
            </a:avLst>
          </a:prstGeom>
          <a:solidFill>
            <a:srgbClr val="F7EB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38" y="642541"/>
            <a:ext cx="141383" cy="1413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9463" y="632023"/>
            <a:ext cx="2071239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913606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kern="0" spc="-70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Literature Review &amp; Research Gap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661475" y="1879203"/>
            <a:ext cx="612273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3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Existing Work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61475" y="2341265"/>
            <a:ext cx="2978671" cy="2206129"/>
          </a:xfrm>
          <a:prstGeom prst="roundRect">
            <a:avLst>
              <a:gd name="adj" fmla="val 345"/>
            </a:avLst>
          </a:prstGeom>
          <a:solidFill>
            <a:srgbClr val="FFF6E5"/>
          </a:solidFill>
          <a:ln w="19050">
            <a:solidFill>
              <a:srgbClr val="DACE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7229" y="2537023"/>
            <a:ext cx="2587163" cy="828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3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QMMS / Quiz Management Systems — 2021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7229" y="3530699"/>
            <a:ext cx="2587163" cy="82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Automated handling of online quiz creation and assessment management.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805440" y="2341265"/>
            <a:ext cx="2978770" cy="2206129"/>
          </a:xfrm>
          <a:prstGeom prst="roundRect">
            <a:avLst>
              <a:gd name="adj" fmla="val 345"/>
            </a:avLst>
          </a:prstGeom>
          <a:solidFill>
            <a:srgbClr val="FFF6E5"/>
          </a:solidFill>
          <a:ln w="19050">
            <a:solidFill>
              <a:srgbClr val="DACE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01194" y="2537023"/>
            <a:ext cx="2587263" cy="552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3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Microservices-Based E-Learning — 2023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001194" y="3254573"/>
            <a:ext cx="2587263" cy="82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Modular e-learning with service separation for scalability and independence.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1475" y="4712692"/>
            <a:ext cx="6122735" cy="1380232"/>
          </a:xfrm>
          <a:prstGeom prst="roundRect">
            <a:avLst>
              <a:gd name="adj" fmla="val 552"/>
            </a:avLst>
          </a:prstGeom>
          <a:solidFill>
            <a:srgbClr val="FFF6E5"/>
          </a:solidFill>
          <a:ln w="19050">
            <a:solidFill>
              <a:srgbClr val="DACEB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7229" y="4908451"/>
            <a:ext cx="5731228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3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Systematic Review of Online Assessment — 2023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57229" y="5349875"/>
            <a:ext cx="5731228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Confirms quiz creation, auto MCQ evaluation, and digital assessment are established.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094459" y="1713905"/>
            <a:ext cx="4569306" cy="4564955"/>
          </a:xfrm>
          <a:prstGeom prst="roundRect">
            <a:avLst>
              <a:gd name="adj" fmla="val 581"/>
            </a:avLst>
          </a:prstGeom>
          <a:solidFill>
            <a:srgbClr val="F5E6C8"/>
          </a:solidFill>
          <a:ln/>
        </p:spPr>
      </p:sp>
      <p:sp>
        <p:nvSpPr>
          <p:cNvPr id="17" name="Text 14"/>
          <p:cNvSpPr/>
          <p:nvPr/>
        </p:nvSpPr>
        <p:spPr>
          <a:xfrm>
            <a:off x="7271163" y="2317055"/>
            <a:ext cx="4215898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3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Research / System Gap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271163" y="2758480"/>
            <a:ext cx="4215898" cy="82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Basic quiz functions are already common. Our system proposes </a:t>
            </a:r>
            <a:r>
              <a:rPr lang="en-US" sz="135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four additional assessment-management capabilities</a:t>
            </a:r>
            <a:r>
              <a:rPr lang="en-US" sz="13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: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271163" y="3728145"/>
            <a:ext cx="4215898" cy="1268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Common Mistake Analysis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Question Lifecycle Tracking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Assessment Balance Checker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One-Time Quiz Access Token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271163" y="5144988"/>
            <a:ext cx="4215898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Existing Quiz Functions → Additional Assessment Intelligence &amp; Management</a:t>
            </a:r>
            <a:endParaRPr lang="en-US" sz="13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CB02E0-05FC-133D-20DC-3DF0448D1964}"/>
              </a:ext>
            </a:extLst>
          </p:cNvPr>
          <p:cNvSpPr/>
          <p:nvPr/>
        </p:nvSpPr>
        <p:spPr>
          <a:xfrm>
            <a:off x="11035553" y="6463553"/>
            <a:ext cx="1156447" cy="302419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9252"/>
            <a:ext cx="1503722" cy="258465"/>
          </a:xfrm>
          <a:prstGeom prst="roundRect">
            <a:avLst>
              <a:gd name="adj" fmla="val 2948"/>
            </a:avLst>
          </a:prstGeom>
          <a:solidFill>
            <a:srgbClr val="F7EB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69" y="740470"/>
            <a:ext cx="136026" cy="136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7458" y="730250"/>
            <a:ext cx="1705329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SYSTEM DESIGN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99893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kern="0" spc="-6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Proposed System &amp; Architecture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61475" y="1683642"/>
            <a:ext cx="387280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Main Users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61475" y="2351187"/>
            <a:ext cx="3872808" cy="1030188"/>
          </a:xfrm>
          <a:prstGeom prst="roundRect">
            <a:avLst>
              <a:gd name="adj" fmla="val 740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7881" y="2527598"/>
            <a:ext cx="351999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Administrator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37881" y="2946400"/>
            <a:ext cx="351999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Manage users and system-level information.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1475" y="3534470"/>
            <a:ext cx="3872808" cy="1288752"/>
          </a:xfrm>
          <a:prstGeom prst="roundRect">
            <a:avLst>
              <a:gd name="adj" fmla="val 591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7881" y="3710880"/>
            <a:ext cx="351999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Instructor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37881" y="4129683"/>
            <a:ext cx="351999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Manage subjects, questions, and quizzes. Analyze assessment quality.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4976316"/>
            <a:ext cx="3872808" cy="1030188"/>
          </a:xfrm>
          <a:prstGeom prst="roundRect">
            <a:avLst>
              <a:gd name="adj" fmla="val 740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7881" y="5152727"/>
            <a:ext cx="351999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Student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37881" y="5571530"/>
            <a:ext cx="351999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Access quizzes, attempt once, view results.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52496" y="1642764"/>
            <a:ext cx="658091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Microservice Architecture</a:t>
            </a:r>
            <a:endParaRPr lang="en-US" sz="16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AE01DE-08D9-9A27-4FFB-EA31D0A02270}"/>
              </a:ext>
            </a:extLst>
          </p:cNvPr>
          <p:cNvSpPr/>
          <p:nvPr/>
        </p:nvSpPr>
        <p:spPr>
          <a:xfrm>
            <a:off x="11035553" y="6463553"/>
            <a:ext cx="1156447" cy="302419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DFFA145-E9B6-5F8D-C31F-48BBDB465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689" y="2020689"/>
            <a:ext cx="7397001" cy="45940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1876"/>
            <a:ext cx="1007938" cy="240308"/>
          </a:xfrm>
          <a:prstGeom prst="roundRect">
            <a:avLst>
              <a:gd name="adj" fmla="val 3171"/>
            </a:avLst>
          </a:prstGeom>
          <a:solidFill>
            <a:srgbClr val="F7EB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26" y="618728"/>
            <a:ext cx="126501" cy="126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6027" y="609302"/>
            <a:ext cx="1238120" cy="145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MODULES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855067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latin typeface="Gelasio" panose="020B0604020202020204" charset="0"/>
                <a:cs typeface="Gelasio" panose="020B0604020202020204" charset="0"/>
              </a:rPr>
              <a:t>Project Plan</a:t>
            </a:r>
          </a:p>
        </p:txBody>
      </p:sp>
      <p:sp>
        <p:nvSpPr>
          <p:cNvPr id="6" name="Shape 3"/>
          <p:cNvSpPr/>
          <p:nvPr/>
        </p:nvSpPr>
        <p:spPr>
          <a:xfrm>
            <a:off x="661475" y="1547713"/>
            <a:ext cx="5368195" cy="1494631"/>
          </a:xfrm>
          <a:prstGeom prst="roundRect">
            <a:avLst>
              <a:gd name="adj" fmla="val 510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5975" y="1712218"/>
            <a:ext cx="474452" cy="474464"/>
          </a:xfrm>
          <a:prstGeom prst="ellipse">
            <a:avLst/>
          </a:prstGeom>
          <a:solidFill>
            <a:srgbClr val="F5E6C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6445" y="1842691"/>
            <a:ext cx="213414" cy="2134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5975" y="2318941"/>
            <a:ext cx="5039194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Authentication Service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25975" y="2645470"/>
            <a:ext cx="5039194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Login, authentication, and access control.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61926" y="1547713"/>
            <a:ext cx="5368295" cy="1494631"/>
          </a:xfrm>
          <a:prstGeom prst="roundRect">
            <a:avLst>
              <a:gd name="adj" fmla="val 510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26426" y="1712218"/>
            <a:ext cx="474452" cy="474464"/>
          </a:xfrm>
          <a:prstGeom prst="ellipse">
            <a:avLst/>
          </a:prstGeom>
          <a:solidFill>
            <a:srgbClr val="F5E6C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56895" y="1842691"/>
            <a:ext cx="213414" cy="2134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26426" y="2318941"/>
            <a:ext cx="5039293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Service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326426" y="2645470"/>
            <a:ext cx="503929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Manages student, instructor, and admin information.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61475" y="3174603"/>
            <a:ext cx="5368195" cy="1494631"/>
          </a:xfrm>
          <a:prstGeom prst="roundRect">
            <a:avLst>
              <a:gd name="adj" fmla="val 510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5975" y="3339108"/>
            <a:ext cx="474452" cy="474464"/>
          </a:xfrm>
          <a:prstGeom prst="ellipse">
            <a:avLst/>
          </a:prstGeom>
          <a:solidFill>
            <a:srgbClr val="F5E6C8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6445" y="3469580"/>
            <a:ext cx="213414" cy="2134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5975" y="3945830"/>
            <a:ext cx="5039194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Question Service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25975" y="4272359"/>
            <a:ext cx="5039194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Stores and manages questions and question metadata.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161926" y="3174603"/>
            <a:ext cx="5368295" cy="1494631"/>
          </a:xfrm>
          <a:prstGeom prst="roundRect">
            <a:avLst>
              <a:gd name="adj" fmla="val 510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326426" y="3339108"/>
            <a:ext cx="474452" cy="474464"/>
          </a:xfrm>
          <a:prstGeom prst="ellipse">
            <a:avLst/>
          </a:prstGeom>
          <a:solidFill>
            <a:srgbClr val="F5E6C8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56895" y="3469580"/>
            <a:ext cx="213414" cy="2134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326426" y="3945830"/>
            <a:ext cx="5039293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Quiz Service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6326426" y="4272359"/>
            <a:ext cx="503929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Creates, schedules, and manages quizzes.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61475" y="4801493"/>
            <a:ext cx="5368195" cy="1494631"/>
          </a:xfrm>
          <a:prstGeom prst="roundRect">
            <a:avLst>
              <a:gd name="adj" fmla="val 510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25975" y="4965998"/>
            <a:ext cx="474452" cy="474464"/>
          </a:xfrm>
          <a:prstGeom prst="ellipse">
            <a:avLst/>
          </a:prstGeom>
          <a:solidFill>
            <a:srgbClr val="F5E6C8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6445" y="5096470"/>
            <a:ext cx="213414" cy="2134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25975" y="5572720"/>
            <a:ext cx="5039194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Assessment Service</a:t>
            </a:r>
            <a:endParaRPr lang="en-US" sz="1550" dirty="0"/>
          </a:p>
        </p:txBody>
      </p:sp>
      <p:sp>
        <p:nvSpPr>
          <p:cNvPr id="30" name="Text 22"/>
          <p:cNvSpPr/>
          <p:nvPr/>
        </p:nvSpPr>
        <p:spPr>
          <a:xfrm>
            <a:off x="825975" y="5899249"/>
            <a:ext cx="5039194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Handles quiz attempts and assessment processing.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161926" y="4801493"/>
            <a:ext cx="5368295" cy="1494631"/>
          </a:xfrm>
          <a:prstGeom prst="roundRect">
            <a:avLst>
              <a:gd name="adj" fmla="val 510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326426" y="4965998"/>
            <a:ext cx="474452" cy="474464"/>
          </a:xfrm>
          <a:prstGeom prst="ellipse">
            <a:avLst/>
          </a:prstGeom>
          <a:solidFill>
            <a:srgbClr val="F5E6C8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56895" y="5096470"/>
            <a:ext cx="213414" cy="2134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326426" y="5572720"/>
            <a:ext cx="5039293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Result Service</a:t>
            </a:r>
            <a:endParaRPr lang="en-US" sz="1550" dirty="0"/>
          </a:p>
        </p:txBody>
      </p:sp>
      <p:sp>
        <p:nvSpPr>
          <p:cNvPr id="35" name="Text 26"/>
          <p:cNvSpPr/>
          <p:nvPr/>
        </p:nvSpPr>
        <p:spPr>
          <a:xfrm>
            <a:off x="6326426" y="5899249"/>
            <a:ext cx="5039293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Evaluates responses and manages results and performance data.</a:t>
            </a:r>
            <a:endParaRPr lang="en-US" sz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002A303-7ECE-B4B2-6F0B-7033E306FB20}"/>
              </a:ext>
            </a:extLst>
          </p:cNvPr>
          <p:cNvSpPr/>
          <p:nvPr/>
        </p:nvSpPr>
        <p:spPr>
          <a:xfrm>
            <a:off x="11035553" y="6463553"/>
            <a:ext cx="1156447" cy="302419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21755"/>
            <a:ext cx="1961010" cy="215305"/>
          </a:xfrm>
          <a:prstGeom prst="roundRect">
            <a:avLst>
              <a:gd name="adj" fmla="val 3539"/>
            </a:avLst>
          </a:prstGeom>
          <a:solidFill>
            <a:srgbClr val="F7EB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3" y="1072654"/>
            <a:ext cx="113404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560" y="1064220"/>
            <a:ext cx="223048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DIFFERENTIATING FEATURES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127952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001540"/>
            <a:ext cx="2577539" cy="371514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98403" y="2162274"/>
            <a:ext cx="300824" cy="215305"/>
          </a:xfrm>
          <a:prstGeom prst="roundRect">
            <a:avLst>
              <a:gd name="adj" fmla="val 3539"/>
            </a:avLst>
          </a:prstGeom>
          <a:solidFill>
            <a:srgbClr val="F7EBD4"/>
          </a:solidFill>
          <a:ln/>
        </p:spPr>
      </p:sp>
      <p:sp>
        <p:nvSpPr>
          <p:cNvPr id="8" name="Text 4"/>
          <p:cNvSpPr/>
          <p:nvPr/>
        </p:nvSpPr>
        <p:spPr>
          <a:xfrm>
            <a:off x="983432" y="2204740"/>
            <a:ext cx="13076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898403" y="2420045"/>
            <a:ext cx="2179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Common Mistake Analysis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98403" y="2747764"/>
            <a:ext cx="2179881" cy="1881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Analyzes class-wide wrong-answer patterns to identify possible common misconceptions.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Example: 43/60 students select B instead of correct answer D.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"Possible misconception: Students may be confusing PUT and POST."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98403" y="4724995"/>
            <a:ext cx="2179881" cy="830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Teacher:</a:t>
            </a: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Identifies class-wide misunderstandings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Student:</a:t>
            </a: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Aware of common areas of confusion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42803" y="2001540"/>
            <a:ext cx="2577639" cy="371514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679731" y="2162274"/>
            <a:ext cx="316103" cy="215305"/>
          </a:xfrm>
          <a:prstGeom prst="roundRect">
            <a:avLst>
              <a:gd name="adj" fmla="val 3539"/>
            </a:avLst>
          </a:prstGeom>
          <a:solidFill>
            <a:srgbClr val="F7EBD4"/>
          </a:solidFill>
          <a:ln/>
        </p:spPr>
      </p:sp>
      <p:sp>
        <p:nvSpPr>
          <p:cNvPr id="14" name="Text 9"/>
          <p:cNvSpPr/>
          <p:nvPr/>
        </p:nvSpPr>
        <p:spPr>
          <a:xfrm>
            <a:off x="3764760" y="2204740"/>
            <a:ext cx="14604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3679731" y="2420045"/>
            <a:ext cx="21799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Question Lifecycle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679731" y="2747764"/>
            <a:ext cx="2179980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Tracks how frequently and recently each question has been used across assessments. Alerts instructor when reuse is excessive.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679731" y="3835598"/>
            <a:ext cx="2179980" cy="102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Teacher:</a:t>
            </a: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Prevents excessive question reuse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Student:</a:t>
            </a: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Reduces repetitive questions across assessments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75131" y="2001539"/>
            <a:ext cx="2577539" cy="3715147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12060" y="2162274"/>
            <a:ext cx="320865" cy="215305"/>
          </a:xfrm>
          <a:prstGeom prst="roundRect">
            <a:avLst>
              <a:gd name="adj" fmla="val 3539"/>
            </a:avLst>
          </a:prstGeom>
          <a:solidFill>
            <a:srgbClr val="F7EBD4"/>
          </a:solidFill>
          <a:ln/>
        </p:spPr>
      </p:sp>
      <p:sp>
        <p:nvSpPr>
          <p:cNvPr id="20" name="Text 14"/>
          <p:cNvSpPr/>
          <p:nvPr/>
        </p:nvSpPr>
        <p:spPr>
          <a:xfrm>
            <a:off x="6597088" y="2204740"/>
            <a:ext cx="15080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03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6512060" y="2420045"/>
            <a:ext cx="2179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Assessment Balance Checker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512060" y="2747764"/>
            <a:ext cx="2179881" cy="1484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Checks quiz balance before publication across topics and difficulty levels.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Warnings: "Unit 3 overrepresented" · "Too many easy questions" · "Very few medium/hard questions"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512060" y="4328120"/>
            <a:ext cx="2179881" cy="830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Teacher:</a:t>
            </a: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Creates better-balanced assessments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Student:</a:t>
            </a: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Gets even syllabus coverage</a:t>
            </a:r>
            <a:endParaRPr lang="en-US" sz="11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8931" y="2001540"/>
            <a:ext cx="2577639" cy="3715146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195860" y="2162274"/>
            <a:ext cx="321758" cy="215305"/>
          </a:xfrm>
          <a:prstGeom prst="roundRect">
            <a:avLst>
              <a:gd name="adj" fmla="val 3539"/>
            </a:avLst>
          </a:prstGeom>
          <a:solidFill>
            <a:srgbClr val="F7EBD4"/>
          </a:solidFill>
          <a:ln/>
        </p:spPr>
      </p:sp>
      <p:sp>
        <p:nvSpPr>
          <p:cNvPr id="26" name="Text 19"/>
          <p:cNvSpPr/>
          <p:nvPr/>
        </p:nvSpPr>
        <p:spPr>
          <a:xfrm>
            <a:off x="9280888" y="2204740"/>
            <a:ext cx="15170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04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9195860" y="2420045"/>
            <a:ext cx="2179980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One-Time Quiz Access Token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195860" y="2969220"/>
            <a:ext cx="217998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Generates a unique, short-lived token per student for each scheduled quiz.</a:t>
            </a:r>
            <a:endParaRPr lang="en-US" sz="11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8308" y="3684091"/>
            <a:ext cx="1634985" cy="748209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720171" y="4225061"/>
            <a:ext cx="306920" cy="118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" kern="0" spc="-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Token Invalidated</a:t>
            </a:r>
            <a:endParaRPr lang="en-US" sz="350" dirty="0"/>
          </a:p>
        </p:txBody>
      </p:sp>
      <p:sp>
        <p:nvSpPr>
          <p:cNvPr id="31" name="Text 23"/>
          <p:cNvSpPr/>
          <p:nvPr/>
        </p:nvSpPr>
        <p:spPr>
          <a:xfrm>
            <a:off x="10333368" y="4254624"/>
            <a:ext cx="306920" cy="59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" kern="0" spc="-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Quiz Access</a:t>
            </a:r>
            <a:endParaRPr lang="en-US" sz="350" dirty="0"/>
          </a:p>
        </p:txBody>
      </p:sp>
      <p:sp>
        <p:nvSpPr>
          <p:cNvPr id="32" name="Text 24"/>
          <p:cNvSpPr/>
          <p:nvPr/>
        </p:nvSpPr>
        <p:spPr>
          <a:xfrm>
            <a:off x="9948668" y="4225061"/>
            <a:ext cx="306919" cy="118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" kern="0" spc="-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Token Generated</a:t>
            </a:r>
            <a:endParaRPr lang="en-US" sz="350" dirty="0"/>
          </a:p>
        </p:txBody>
      </p:sp>
      <p:sp>
        <p:nvSpPr>
          <p:cNvPr id="33" name="Text 25"/>
          <p:cNvSpPr/>
          <p:nvPr/>
        </p:nvSpPr>
        <p:spPr>
          <a:xfrm>
            <a:off x="9555558" y="4254624"/>
            <a:ext cx="306919" cy="59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" kern="0" spc="-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Login</a:t>
            </a:r>
            <a:endParaRPr lang="en-US" sz="350" dirty="0"/>
          </a:p>
        </p:txBody>
      </p:sp>
      <p:sp>
        <p:nvSpPr>
          <p:cNvPr id="34" name="Text 26"/>
          <p:cNvSpPr/>
          <p:nvPr/>
        </p:nvSpPr>
        <p:spPr>
          <a:xfrm>
            <a:off x="9195860" y="4551859"/>
            <a:ext cx="2179980" cy="830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Teacher:</a:t>
            </a: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Controls authorized quiz access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Student:</a:t>
            </a: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Secure, session-tied access</a:t>
            </a:r>
            <a:endParaRPr lang="en-US" sz="11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9BC957-0905-5150-356C-AD63B8CBF6E4}"/>
              </a:ext>
            </a:extLst>
          </p:cNvPr>
          <p:cNvSpPr/>
          <p:nvPr/>
        </p:nvSpPr>
        <p:spPr>
          <a:xfrm>
            <a:off x="11035553" y="6463553"/>
            <a:ext cx="1156447" cy="302419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B3C86F-EF41-20A5-B5FA-CA2F25512FCB}"/>
              </a:ext>
            </a:extLst>
          </p:cNvPr>
          <p:cNvSpPr txBox="1"/>
          <p:nvPr/>
        </p:nvSpPr>
        <p:spPr>
          <a:xfrm>
            <a:off x="563191" y="1379020"/>
            <a:ext cx="6184706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100" dirty="0">
                <a:latin typeface="Gelasio" panose="020B0604020202020204" charset="0"/>
                <a:cs typeface="Gelasio" panose="020B0604020202020204" charset="0"/>
              </a:rPr>
              <a:t>Innovation, creativity and Novelty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4236"/>
            <a:ext cx="1979861" cy="272752"/>
          </a:xfrm>
          <a:prstGeom prst="roundRect">
            <a:avLst>
              <a:gd name="adj" fmla="val 2794"/>
            </a:avLst>
          </a:prstGeom>
          <a:solidFill>
            <a:srgbClr val="F7EB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25" y="618827"/>
            <a:ext cx="143566" cy="143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4424" y="608013"/>
            <a:ext cx="2158847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WORKFLOW &amp; FLOWS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89515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kern="0" spc="-7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Flows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61475" y="1882775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Integration Workflow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45" y="2355155"/>
            <a:ext cx="4954464" cy="22295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8156" y="2450435"/>
            <a:ext cx="867023" cy="13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kern="0" spc="-1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Create Quiz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538156" y="2622534"/>
            <a:ext cx="867023" cy="209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6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Instructor prepares questions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2395652" y="4122593"/>
            <a:ext cx="871787" cy="13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kern="0" spc="-1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Balance Check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2395652" y="4294693"/>
            <a:ext cx="871787" cy="209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6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Verify assessment credits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3243620" y="2433761"/>
            <a:ext cx="867023" cy="13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kern="0" spc="-1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Publish &amp; Token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243620" y="2605860"/>
            <a:ext cx="867023" cy="209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6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Publish quiz and generate token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4101116" y="4122593"/>
            <a:ext cx="867023" cy="13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kern="0" spc="-1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Student Attempt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101116" y="4294693"/>
            <a:ext cx="867023" cy="209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6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Single attempt and auto-eval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6321267" y="1882775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Functional Flows</a:t>
            </a:r>
            <a:endParaRPr lang="en-US" sz="17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5867" y="2329755"/>
            <a:ext cx="5240702" cy="107563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551548" y="2355155"/>
            <a:ext cx="1143368" cy="272752"/>
          </a:xfrm>
          <a:prstGeom prst="roundRect">
            <a:avLst>
              <a:gd name="adj" fmla="val 2794"/>
            </a:avLst>
          </a:prstGeom>
          <a:solidFill>
            <a:srgbClr val="F7EBD4"/>
          </a:solidFill>
          <a:ln/>
        </p:spPr>
      </p:sp>
      <p:sp>
        <p:nvSpPr>
          <p:cNvPr id="19" name="Text 14"/>
          <p:cNvSpPr/>
          <p:nvPr/>
        </p:nvSpPr>
        <p:spPr>
          <a:xfrm>
            <a:off x="6659197" y="2408932"/>
            <a:ext cx="928069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INSTRUCTOR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551548" y="2819797"/>
            <a:ext cx="498502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Login → Manage Subject → Manage Questions → Create Quiz → </a:t>
            </a:r>
            <a:r>
              <a:rPr lang="en-US" sz="14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Check Balance</a:t>
            </a:r>
            <a:r>
              <a:rPr lang="en-US" sz="14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→ Schedule Quiz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5867" y="3695700"/>
            <a:ext cx="5240702" cy="107563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551548" y="3721100"/>
            <a:ext cx="894534" cy="272752"/>
          </a:xfrm>
          <a:prstGeom prst="roundRect">
            <a:avLst>
              <a:gd name="adj" fmla="val 2794"/>
            </a:avLst>
          </a:prstGeom>
          <a:solidFill>
            <a:srgbClr val="F7EBD4"/>
          </a:solidFill>
          <a:ln/>
        </p:spPr>
      </p:sp>
      <p:sp>
        <p:nvSpPr>
          <p:cNvPr id="23" name="Text 17"/>
          <p:cNvSpPr/>
          <p:nvPr/>
        </p:nvSpPr>
        <p:spPr>
          <a:xfrm>
            <a:off x="6659197" y="3774877"/>
            <a:ext cx="679235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STUDENT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551548" y="4185741"/>
            <a:ext cx="498502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Login → </a:t>
            </a:r>
            <a:r>
              <a:rPr lang="en-US" sz="14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Receive Access Token</a:t>
            </a:r>
            <a:r>
              <a:rPr lang="en-US" sz="14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→ Enter Quiz → Attempt Once → Submit</a:t>
            </a:r>
            <a:endParaRPr lang="en-US" sz="14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5867" y="5061645"/>
            <a:ext cx="5240702" cy="107563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551548" y="5087045"/>
            <a:ext cx="798790" cy="272752"/>
          </a:xfrm>
          <a:prstGeom prst="roundRect">
            <a:avLst>
              <a:gd name="adj" fmla="val 2794"/>
            </a:avLst>
          </a:prstGeom>
          <a:solidFill>
            <a:srgbClr val="F7EBD4"/>
          </a:solidFill>
          <a:ln/>
        </p:spPr>
      </p:sp>
      <p:sp>
        <p:nvSpPr>
          <p:cNvPr id="27" name="Text 20"/>
          <p:cNvSpPr/>
          <p:nvPr/>
        </p:nvSpPr>
        <p:spPr>
          <a:xfrm>
            <a:off x="6659197" y="5140821"/>
            <a:ext cx="583491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SYSTEM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551548" y="5551686"/>
            <a:ext cx="498502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Evaluate → Generate Result → </a:t>
            </a:r>
            <a:r>
              <a:rPr lang="en-US" sz="14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Analyze Mistakes</a:t>
            </a:r>
            <a:r>
              <a:rPr lang="en-US" sz="14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→ Update Question Lifecycle → Store Performance Data</a:t>
            </a:r>
            <a:endParaRPr lang="en-US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0C8596-82EE-AF19-D68A-424F5089EE30}"/>
              </a:ext>
            </a:extLst>
          </p:cNvPr>
          <p:cNvSpPr/>
          <p:nvPr/>
        </p:nvSpPr>
        <p:spPr>
          <a:xfrm>
            <a:off x="11035553" y="6463553"/>
            <a:ext cx="1156447" cy="302419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7544"/>
            <a:ext cx="2454412" cy="258465"/>
          </a:xfrm>
          <a:prstGeom prst="roundRect">
            <a:avLst>
              <a:gd name="adj" fmla="val 2948"/>
            </a:avLst>
          </a:prstGeom>
          <a:solidFill>
            <a:srgbClr val="F7EB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69" y="728762"/>
            <a:ext cx="136026" cy="136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7458" y="718542"/>
            <a:ext cx="2656019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TECHNOLOGIES &amp; FEASIBILITY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98722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kern="0" spc="-67" dirty="0">
                <a:solidFill>
                  <a:srgbClr val="402B2C"/>
                </a:solidFill>
                <a:latin typeface="Gelasio" pitchFamily="34" charset="0"/>
                <a:cs typeface="Gelasio" pitchFamily="34" charset="-120"/>
              </a:rPr>
              <a:t>Feasibility and Project plan 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61475" y="1901527"/>
            <a:ext cx="46626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Technology Stack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61475" y="2339479"/>
            <a:ext cx="2254789" cy="1288752"/>
          </a:xfrm>
          <a:prstGeom prst="roundRect">
            <a:avLst>
              <a:gd name="adj" fmla="val 591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7881" y="2515890"/>
            <a:ext cx="190197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Frontend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37881" y="2934692"/>
            <a:ext cx="1901976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Web-based user interface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69354" y="2339479"/>
            <a:ext cx="2254789" cy="1288752"/>
          </a:xfrm>
          <a:prstGeom prst="roundRect">
            <a:avLst>
              <a:gd name="adj" fmla="val 591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45761" y="2515890"/>
            <a:ext cx="190197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3245761" y="2934692"/>
            <a:ext cx="190197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Java / Spring Boot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3781326"/>
            <a:ext cx="2254789" cy="1030188"/>
          </a:xfrm>
          <a:prstGeom prst="roundRect">
            <a:avLst>
              <a:gd name="adj" fmla="val 740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7881" y="3957737"/>
            <a:ext cx="190197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Architecture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37881" y="4376539"/>
            <a:ext cx="190197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SOA / Microservices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069354" y="3781326"/>
            <a:ext cx="2254789" cy="1030188"/>
          </a:xfrm>
          <a:prstGeom prst="roundRect">
            <a:avLst>
              <a:gd name="adj" fmla="val 740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45761" y="3957737"/>
            <a:ext cx="190197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Communication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3245761" y="4376539"/>
            <a:ext cx="190197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REST APIs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61475" y="4964609"/>
            <a:ext cx="4662669" cy="1030188"/>
          </a:xfrm>
          <a:prstGeom prst="roundRect">
            <a:avLst>
              <a:gd name="adj" fmla="val 740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7881" y="5141020"/>
            <a:ext cx="430985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Database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837881" y="5559822"/>
            <a:ext cx="430985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Relational Database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745416" y="1901527"/>
            <a:ext cx="579105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Feasibility</a:t>
            </a:r>
            <a:endParaRPr lang="en-US" sz="16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9212" y="2344688"/>
            <a:ext cx="255085" cy="25509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98149" y="2339479"/>
            <a:ext cx="52383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Technical Feasibility</a:t>
            </a:r>
            <a:endParaRPr lang="en-US" sz="1650" dirty="0"/>
          </a:p>
        </p:txBody>
      </p:sp>
      <p:sp>
        <p:nvSpPr>
          <p:cNvPr id="25" name="Text 21"/>
          <p:cNvSpPr/>
          <p:nvPr/>
        </p:nvSpPr>
        <p:spPr>
          <a:xfrm>
            <a:off x="6298149" y="2758281"/>
            <a:ext cx="52383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Standard web technologies; REST APIs enable service communication; relational databases support structured quiz data.</a:t>
            </a:r>
            <a:endParaRPr lang="en-US" sz="13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9212" y="3586807"/>
            <a:ext cx="255085" cy="25509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98149" y="3581598"/>
            <a:ext cx="52383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Operational Feasibility</a:t>
            </a:r>
            <a:endParaRPr lang="en-US" sz="1650" dirty="0"/>
          </a:p>
        </p:txBody>
      </p:sp>
      <p:sp>
        <p:nvSpPr>
          <p:cNvPr id="28" name="Text 23"/>
          <p:cNvSpPr/>
          <p:nvPr/>
        </p:nvSpPr>
        <p:spPr>
          <a:xfrm>
            <a:off x="6298149" y="4000401"/>
            <a:ext cx="52383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Separate interfaces for each role; automated evaluation reduces manual work; instructors manage assessments through the platform.</a:t>
            </a:r>
            <a:endParaRPr lang="en-US" sz="13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9212" y="5087491"/>
            <a:ext cx="255085" cy="25509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298149" y="5082282"/>
            <a:ext cx="52383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Implementation Feasibility</a:t>
            </a:r>
            <a:endParaRPr lang="en-US" sz="1650" dirty="0"/>
          </a:p>
        </p:txBody>
      </p:sp>
      <p:sp>
        <p:nvSpPr>
          <p:cNvPr id="31" name="Text 25"/>
          <p:cNvSpPr/>
          <p:nvPr/>
        </p:nvSpPr>
        <p:spPr>
          <a:xfrm>
            <a:off x="6298149" y="5501084"/>
            <a:ext cx="52383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Commonly available technologies; independent services are easier to maintain; architecture scales as user count grows.</a:t>
            </a:r>
            <a:endParaRPr lang="en-US" sz="13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8DEF3F-8F7B-9E5B-977C-CA4497602B47}"/>
              </a:ext>
            </a:extLst>
          </p:cNvPr>
          <p:cNvSpPr/>
          <p:nvPr/>
        </p:nvSpPr>
        <p:spPr>
          <a:xfrm>
            <a:off x="11035553" y="6463553"/>
            <a:ext cx="1156447" cy="302419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2351"/>
            <a:ext cx="1385952" cy="272752"/>
          </a:xfrm>
          <a:prstGeom prst="roundRect">
            <a:avLst>
              <a:gd name="adj" fmla="val 2794"/>
            </a:avLst>
          </a:prstGeom>
          <a:solidFill>
            <a:srgbClr val="F7EBD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25" y="616942"/>
            <a:ext cx="143566" cy="143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4424" y="606127"/>
            <a:ext cx="1564938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89326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kern="0" spc="-7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 &amp; Future Scope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61475" y="1880890"/>
            <a:ext cx="57806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Summary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61475" y="2331938"/>
            <a:ext cx="5780637" cy="15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</a:t>
            </a:r>
            <a:r>
              <a:rPr lang="en-US" sz="14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Learning Management: Online Quiz System</a:t>
            </a:r>
            <a:r>
              <a:rPr lang="en-US" sz="14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provides a secure and scalable platform for creating, conducting, evaluating, and managing online assessments using SOA/Microservices.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system combines standard quiz functionality with four proposed differentiating features: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1475" y="4077791"/>
            <a:ext cx="2805042" cy="932656"/>
          </a:xfrm>
          <a:prstGeom prst="roundRect">
            <a:avLst>
              <a:gd name="adj" fmla="val 81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7307" y="4263628"/>
            <a:ext cx="2433378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Common Mistake Analysis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3637070" y="4077791"/>
            <a:ext cx="2805042" cy="932656"/>
          </a:xfrm>
          <a:prstGeom prst="roundRect">
            <a:avLst>
              <a:gd name="adj" fmla="val 81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22902" y="4263628"/>
            <a:ext cx="243337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Question Lifecycle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61475" y="5181005"/>
            <a:ext cx="2805042" cy="932656"/>
          </a:xfrm>
          <a:prstGeom prst="roundRect">
            <a:avLst>
              <a:gd name="adj" fmla="val 81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7307" y="5366841"/>
            <a:ext cx="2433378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Assessment Balance Checker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3637070" y="5181005"/>
            <a:ext cx="2805042" cy="932656"/>
          </a:xfrm>
          <a:prstGeom prst="roundRect">
            <a:avLst>
              <a:gd name="adj" fmla="val 81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22902" y="5366841"/>
            <a:ext cx="2433378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One-Time Quiz Access Token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6757223" y="1710333"/>
            <a:ext cx="4908626" cy="4595217"/>
          </a:xfrm>
          <a:prstGeom prst="roundRect">
            <a:avLst>
              <a:gd name="adj" fmla="val 586"/>
            </a:avLst>
          </a:prstGeom>
          <a:solidFill>
            <a:srgbClr val="F5E6C8"/>
          </a:solidFill>
          <a:ln/>
        </p:spPr>
      </p:sp>
      <p:sp>
        <p:nvSpPr>
          <p:cNvPr id="17" name="Text 14"/>
          <p:cNvSpPr/>
          <p:nvPr/>
        </p:nvSpPr>
        <p:spPr>
          <a:xfrm>
            <a:off x="6936705" y="2216348"/>
            <a:ext cx="454966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Scope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936705" y="2667397"/>
            <a:ext cx="4549661" cy="1638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Support for additional question types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More detailed assessment analytics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Integration with larger LMS platforms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Expansion of microservices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Additional reporting capabilities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936705" y="4543127"/>
            <a:ext cx="4549661" cy="25400"/>
          </a:xfrm>
          <a:prstGeom prst="roundRect">
            <a:avLst>
              <a:gd name="adj" fmla="val 49999"/>
            </a:avLst>
          </a:prstGeom>
          <a:solidFill>
            <a:srgbClr val="402B2C">
              <a:alpha val="5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936705" y="4805263"/>
            <a:ext cx="454966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Thank You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6936705" y="5256312"/>
            <a:ext cx="454966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Bhashetty Shaanvi  | Deeksha | Srija| Manaswi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CSE, KLH Bowrampet · Guide: Navyatha Ravi</a:t>
            </a:r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D811F1-F122-12F9-9556-F424E8EBB1C8}"/>
              </a:ext>
            </a:extLst>
          </p:cNvPr>
          <p:cNvSpPr/>
          <p:nvPr/>
        </p:nvSpPr>
        <p:spPr>
          <a:xfrm>
            <a:off x="11035553" y="6463553"/>
            <a:ext cx="1156447" cy="302419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883</Words>
  <Application>Microsoft Office PowerPoint</Application>
  <PresentationFormat>Widescreen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Libre Franklin Bold</vt:lpstr>
      <vt:lpstr>Arial</vt:lpstr>
      <vt:lpstr>Gelasio</vt:lpstr>
      <vt:lpstr>Libre Franklin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bha shetty</cp:lastModifiedBy>
  <cp:revision>5</cp:revision>
  <dcterms:created xsi:type="dcterms:W3CDTF">2026-09-21T03:20:38Z</dcterms:created>
  <dcterms:modified xsi:type="dcterms:W3CDTF">2026-09-28T03:57:29Z</dcterms:modified>
</cp:coreProperties>
</file>