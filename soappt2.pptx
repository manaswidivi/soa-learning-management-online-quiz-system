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65" r:id="rId4"/>
    <p:sldId id="264" r:id="rId5"/>
    <p:sldId id="266" r:id="rId6"/>
  </p:sldIdLst>
  <p:sldSz cx="12192000" cy="6858000"/>
  <p:notesSz cx="6858000" cy="12192000"/>
  <p:embeddedFontLst>
    <p:embeddedFont>
      <p:font typeface="Angsana New" panose="02020603050405020304" pitchFamily="18" charset="-34"/>
      <p:regular r:id="rId8"/>
      <p:bold r:id="rId9"/>
      <p:italic r:id="rId10"/>
      <p:boldItalic r:id="rId11"/>
    </p:embeddedFont>
    <p:embeddedFont>
      <p:font typeface="Gelasio" pitchFamily="2" charset="77"/>
      <p:regular r:id="rId12"/>
    </p:embeddedFont>
    <p:embeddedFont>
      <p:font typeface="Libre Franklin" pitchFamily="2" charset="77"/>
      <p:regular r:id="rId13"/>
      <p:bold r:id="rId14"/>
      <p:italic r:id="rId15"/>
      <p:boldItalic r:id="rId16"/>
    </p:embeddedFont>
    <p:embeddedFont>
      <p:font typeface="Libre Franklin Bold" pitchFamily="2" charset="77"/>
      <p:regular r:id="rId17"/>
      <p:bold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0507"/>
    <a:srgbClr val="402B2C"/>
    <a:srgbClr val="FFF6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5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8378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78BDD-8B6F-8349-7780-BC4C7FADF0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8D2C75-71C4-05C7-04A7-FABA120034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A91EA0-69D9-5C92-3E2A-2A795BC5E7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7A7299-11C7-61E5-8AB0-3CB4064EC9E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825367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7959F-C308-C09A-C5D9-C962BD03E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63F317-1E46-E16F-8615-2A513AE97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572A42-EAFC-269D-E95B-96216E5914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5B23D1-1BFC-EDEA-E725-70C5A927A27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37083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82A0D-AF5E-49FD-AA10-2B88C1B6A2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4AB54-5351-8911-E3AB-47579C9B6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83EC41-8139-E178-CD93-CD7E3B56A6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B695D3-3844-1802-3E7E-AA93B44B52D2}"/>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691546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6E5"/>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517499" y="409658"/>
            <a:ext cx="2906144" cy="282674"/>
          </a:xfrm>
          <a:prstGeom prst="roundRect">
            <a:avLst>
              <a:gd name="adj" fmla="val 2696"/>
            </a:avLst>
          </a:prstGeom>
          <a:solidFill>
            <a:srgbClr val="F7EBD4"/>
          </a:solidFill>
          <a:ln/>
        </p:spPr>
        <p:txBody>
          <a:bodyPr/>
          <a:lstStyle/>
          <a:p>
            <a:endParaRPr lang="en-US"/>
          </a:p>
        </p:txBody>
      </p:sp>
      <p:sp>
        <p:nvSpPr>
          <p:cNvPr id="4" name="Text 1"/>
          <p:cNvSpPr/>
          <p:nvPr/>
        </p:nvSpPr>
        <p:spPr>
          <a:xfrm>
            <a:off x="584463" y="520216"/>
            <a:ext cx="3292492" cy="171152"/>
          </a:xfrm>
          <a:prstGeom prst="rect">
            <a:avLst/>
          </a:prstGeom>
          <a:noFill/>
          <a:ln/>
        </p:spPr>
        <p:txBody>
          <a:bodyPr wrap="none" lIns="0" tIns="0" rIns="0" bIns="0" rtlCol="0" anchor="t"/>
          <a:lstStyle/>
          <a:p>
            <a:pPr marL="0" indent="0" algn="l">
              <a:lnSpc>
                <a:spcPct val="96000"/>
              </a:lnSpc>
              <a:buNone/>
            </a:pPr>
            <a:r>
              <a:rPr lang="en-US" sz="1150" dirty="0">
                <a:solidFill>
                  <a:srgbClr val="402B2C"/>
                </a:solidFill>
                <a:latin typeface="Libre Franklin" pitchFamily="34" charset="0"/>
                <a:ea typeface="Libre Franklin" pitchFamily="34" charset="-122"/>
                <a:cs typeface="Libre Franklin" pitchFamily="34" charset="-120"/>
              </a:rPr>
              <a:t>SOA PROJECT REVIEW-2 | 2026–2027</a:t>
            </a:r>
            <a:endParaRPr lang="en-US" sz="1150" dirty="0"/>
          </a:p>
        </p:txBody>
      </p:sp>
      <p:sp>
        <p:nvSpPr>
          <p:cNvPr id="5" name="Text 2"/>
          <p:cNvSpPr/>
          <p:nvPr/>
        </p:nvSpPr>
        <p:spPr>
          <a:xfrm>
            <a:off x="420843" y="1158478"/>
            <a:ext cx="6339721" cy="1162844"/>
          </a:xfrm>
          <a:prstGeom prst="rect">
            <a:avLst/>
          </a:prstGeom>
          <a:noFill/>
          <a:ln/>
        </p:spPr>
        <p:txBody>
          <a:bodyPr wrap="square" lIns="0" tIns="0" rIns="0" bIns="0" rtlCol="0" anchor="t">
            <a:normAutofit/>
          </a:bodyPr>
          <a:lstStyle/>
          <a:p>
            <a:pPr marL="0" indent="0" algn="l">
              <a:lnSpc>
                <a:spcPct val="104000"/>
              </a:lnSpc>
              <a:buNone/>
            </a:pPr>
            <a:r>
              <a:rPr lang="en-US" sz="3650" kern="0" spc="-73" dirty="0">
                <a:solidFill>
                  <a:srgbClr val="402B2C"/>
                </a:solidFill>
                <a:latin typeface="Gelasio" pitchFamily="34" charset="0"/>
                <a:ea typeface="Gelasio" pitchFamily="34" charset="-122"/>
                <a:cs typeface="Gelasio" pitchFamily="34" charset="-120"/>
              </a:rPr>
              <a:t>Learning Management: Online Quiz System</a:t>
            </a:r>
            <a:endParaRPr lang="en-US" sz="3650" dirty="0"/>
          </a:p>
        </p:txBody>
      </p:sp>
      <p:sp>
        <p:nvSpPr>
          <p:cNvPr id="6" name="Text 3"/>
          <p:cNvSpPr/>
          <p:nvPr/>
        </p:nvSpPr>
        <p:spPr>
          <a:xfrm>
            <a:off x="420843" y="2660891"/>
            <a:ext cx="6339721" cy="1345902"/>
          </a:xfrm>
          <a:prstGeom prst="rect">
            <a:avLst/>
          </a:prstGeom>
          <a:noFill/>
          <a:ln/>
        </p:spPr>
        <p:txBody>
          <a:bodyPr wrap="square" lIns="0" tIns="0" rIns="0" bIns="0" rtlCol="0" anchor="t"/>
          <a:lstStyle/>
          <a:p>
            <a:pPr marL="0" indent="0" algn="l">
              <a:lnSpc>
                <a:spcPct val="132000"/>
              </a:lnSpc>
              <a:spcAft>
                <a:spcPts val="1250"/>
              </a:spcAft>
              <a:buNone/>
            </a:pPr>
            <a:r>
              <a:rPr lang="en-US" sz="1450" dirty="0">
                <a:solidFill>
                  <a:srgbClr val="402B2C"/>
                </a:solidFill>
                <a:latin typeface="Libre Franklin" pitchFamily="34" charset="0"/>
                <a:ea typeface="Libre Franklin" pitchFamily="34" charset="-122"/>
                <a:cs typeface="Libre Franklin" pitchFamily="34" charset="-120"/>
              </a:rPr>
              <a:t>Course: SOA Programming and Microservices - 24SDCS03</a:t>
            </a:r>
            <a:endParaRPr lang="en-US" sz="1450" dirty="0"/>
          </a:p>
          <a:p>
            <a:pPr marL="0" indent="0" algn="l">
              <a:lnSpc>
                <a:spcPct val="132000"/>
              </a:lnSpc>
              <a:buNone/>
            </a:pPr>
            <a:r>
              <a:rPr lang="en-US" sz="1450" b="1" dirty="0">
                <a:solidFill>
                  <a:srgbClr val="402B2C"/>
                </a:solidFill>
                <a:latin typeface="Libre Franklin Bold" pitchFamily="34" charset="0"/>
                <a:ea typeface="Libre Franklin Bold" pitchFamily="34" charset="-122"/>
                <a:cs typeface="Libre Franklin Bold" pitchFamily="34" charset="-120"/>
              </a:rPr>
              <a:t>Under the Guidance of:</a:t>
            </a:r>
            <a:r>
              <a:rPr lang="en-US" sz="1450" dirty="0">
                <a:solidFill>
                  <a:srgbClr val="402B2C"/>
                </a:solidFill>
                <a:latin typeface="Libre Franklin" pitchFamily="34" charset="0"/>
                <a:ea typeface="Libre Franklin" pitchFamily="34" charset="-122"/>
                <a:cs typeface="Libre Franklin" pitchFamily="34" charset="-120"/>
              </a:rPr>
              <a:t> Navyatha Ravi</a:t>
            </a:r>
            <a:endParaRPr lang="en-US" sz="1450" dirty="0"/>
          </a:p>
          <a:p>
            <a:pPr marL="0" indent="0" algn="l">
              <a:lnSpc>
                <a:spcPct val="132000"/>
              </a:lnSpc>
              <a:buNone/>
            </a:pPr>
            <a:r>
              <a:rPr lang="en-US" sz="1450" dirty="0">
                <a:solidFill>
                  <a:srgbClr val="402B2C"/>
                </a:solidFill>
                <a:latin typeface="Libre Franklin" pitchFamily="34" charset="0"/>
                <a:ea typeface="Libre Franklin" pitchFamily="34" charset="-122"/>
                <a:cs typeface="Libre Franklin" pitchFamily="34" charset="-120"/>
              </a:rPr>
              <a:t>Department of Computer Science and Engineering</a:t>
            </a:r>
            <a:endParaRPr lang="en-US" sz="1450" dirty="0"/>
          </a:p>
          <a:p>
            <a:pPr marL="0" indent="0" algn="l">
              <a:lnSpc>
                <a:spcPct val="132000"/>
              </a:lnSpc>
              <a:buNone/>
            </a:pPr>
            <a:r>
              <a:rPr lang="en-US" sz="1450" dirty="0">
                <a:solidFill>
                  <a:srgbClr val="402B2C"/>
                </a:solidFill>
                <a:latin typeface="Libre Franklin" pitchFamily="34" charset="0"/>
                <a:ea typeface="Libre Franklin" pitchFamily="34" charset="-122"/>
                <a:cs typeface="Libre Franklin" pitchFamily="34" charset="-120"/>
              </a:rPr>
              <a:t>KLH CSE Bowrampet Campus</a:t>
            </a:r>
            <a:endParaRPr lang="en-US" sz="1450" dirty="0"/>
          </a:p>
        </p:txBody>
      </p:sp>
      <p:sp>
        <p:nvSpPr>
          <p:cNvPr id="9" name="Text 6"/>
          <p:cNvSpPr/>
          <p:nvPr/>
        </p:nvSpPr>
        <p:spPr>
          <a:xfrm>
            <a:off x="7117976" y="4831207"/>
            <a:ext cx="2329817" cy="295275"/>
          </a:xfrm>
          <a:prstGeom prst="rect">
            <a:avLst/>
          </a:prstGeom>
          <a:noFill/>
          <a:ln/>
        </p:spPr>
        <p:txBody>
          <a:bodyPr wrap="none" lIns="0" tIns="0" rIns="0" bIns="0" rtlCol="0" anchor="t"/>
          <a:lstStyle/>
          <a:p>
            <a:pPr marL="0" indent="0" algn="r">
              <a:lnSpc>
                <a:spcPct val="132000"/>
              </a:lnSpc>
              <a:buNone/>
            </a:pPr>
            <a:r>
              <a:rPr lang="en-US" sz="1450" b="1" dirty="0">
                <a:solidFill>
                  <a:srgbClr val="402B2C"/>
                </a:solidFill>
                <a:latin typeface="Libre Franklin Bold" pitchFamily="34" charset="0"/>
                <a:ea typeface="Libre Franklin Bold" pitchFamily="34" charset="-122"/>
                <a:cs typeface="Libre Franklin Bold" pitchFamily="34" charset="-120"/>
              </a:rPr>
              <a:t>Team Members:</a:t>
            </a:r>
            <a:endParaRPr lang="en-US" sz="1450" dirty="0"/>
          </a:p>
        </p:txBody>
      </p:sp>
      <p:sp>
        <p:nvSpPr>
          <p:cNvPr id="10" name="Text 7"/>
          <p:cNvSpPr/>
          <p:nvPr/>
        </p:nvSpPr>
        <p:spPr>
          <a:xfrm>
            <a:off x="8045073" y="5179814"/>
            <a:ext cx="4075209" cy="1373386"/>
          </a:xfrm>
          <a:prstGeom prst="rect">
            <a:avLst/>
          </a:prstGeom>
          <a:noFill/>
          <a:ln/>
        </p:spPr>
        <p:txBody>
          <a:bodyPr wrap="square" lIns="0" tIns="0" rIns="0" bIns="0" rtlCol="0" anchor="t">
            <a:normAutofit/>
          </a:bodyPr>
          <a:lstStyle/>
          <a:p>
            <a:pPr marL="294640" indent="-294640">
              <a:lnSpc>
                <a:spcPct val="132000"/>
              </a:lnSpc>
              <a:buSzPct val="100000"/>
              <a:buFont typeface="+mj-lt"/>
              <a:buAutoNum type="arabicPeriod"/>
            </a:pPr>
            <a:r>
              <a:rPr lang="en-US" sz="1450" dirty="0">
                <a:solidFill>
                  <a:srgbClr val="402B2C"/>
                </a:solidFill>
                <a:latin typeface="Libre Franklin" pitchFamily="34" charset="0"/>
                <a:ea typeface="Libre Franklin" pitchFamily="34" charset="-122"/>
                <a:cs typeface="Libre Franklin" pitchFamily="34" charset="-120"/>
              </a:rPr>
              <a:t>Bhashetty Shaanvi — 2420039806</a:t>
            </a:r>
          </a:p>
          <a:p>
            <a:pPr marL="294640" indent="-294640" algn="l">
              <a:lnSpc>
                <a:spcPct val="132000"/>
              </a:lnSpc>
              <a:buSzPct val="100000"/>
              <a:buFont typeface="+mj-lt"/>
              <a:buAutoNum type="arabicPeriod"/>
            </a:pPr>
            <a:r>
              <a:rPr lang="en-US" sz="1450" dirty="0">
                <a:solidFill>
                  <a:srgbClr val="402B2C"/>
                </a:solidFill>
                <a:latin typeface="Libre Franklin" pitchFamily="34" charset="0"/>
                <a:ea typeface="Libre Franklin" pitchFamily="34" charset="-122"/>
                <a:cs typeface="Libre Franklin" pitchFamily="34" charset="-120"/>
              </a:rPr>
              <a:t>Manaswi Divi — 2420030793</a:t>
            </a:r>
          </a:p>
          <a:p>
            <a:pPr marL="294640" indent="-294640">
              <a:lnSpc>
                <a:spcPct val="132000"/>
              </a:lnSpc>
              <a:buSzPct val="100000"/>
              <a:buFont typeface="+mj-lt"/>
              <a:buAutoNum type="arabicPeriod"/>
            </a:pPr>
            <a:r>
              <a:rPr lang="en-US" sz="1450" dirty="0">
                <a:solidFill>
                  <a:srgbClr val="402B2C"/>
                </a:solidFill>
                <a:latin typeface="Libre Franklin" pitchFamily="34" charset="0"/>
                <a:ea typeface="Libre Franklin" pitchFamily="34" charset="-122"/>
                <a:cs typeface="Libre Franklin" pitchFamily="34" charset="-120"/>
              </a:rPr>
              <a:t>Deeksha — 2400031669</a:t>
            </a:r>
            <a:endParaRPr lang="en-US" sz="1450" dirty="0"/>
          </a:p>
          <a:p>
            <a:pPr algn="l">
              <a:lnSpc>
                <a:spcPct val="132000"/>
              </a:lnSpc>
              <a:buSzPct val="100000"/>
            </a:pPr>
            <a:r>
              <a:rPr lang="en-US" sz="1450" dirty="0">
                <a:solidFill>
                  <a:srgbClr val="402B2C"/>
                </a:solidFill>
                <a:latin typeface="Libre Franklin" pitchFamily="34" charset="0"/>
                <a:ea typeface="Libre Franklin" pitchFamily="34" charset="-122"/>
                <a:cs typeface="Libre Franklin" pitchFamily="34" charset="-120"/>
              </a:rPr>
              <a:t>4.    Srija — 2420030480</a:t>
            </a:r>
            <a:endParaRPr lang="en-US" sz="1450" dirty="0"/>
          </a:p>
        </p:txBody>
      </p:sp>
      <p:sp>
        <p:nvSpPr>
          <p:cNvPr id="13" name="Rectangle 12">
            <a:extLst>
              <a:ext uri="{FF2B5EF4-FFF2-40B4-BE49-F238E27FC236}">
                <a16:creationId xmlns:a16="http://schemas.microsoft.com/office/drawing/2014/main" id="{4D5A946E-08F2-70B0-524A-F53137C0CA7A}"/>
              </a:ext>
            </a:extLst>
          </p:cNvPr>
          <p:cNvSpPr/>
          <p:nvPr/>
        </p:nvSpPr>
        <p:spPr>
          <a:xfrm>
            <a:off x="10990729" y="6311153"/>
            <a:ext cx="1129553" cy="484094"/>
          </a:xfrm>
          <a:prstGeom prst="rect">
            <a:avLst/>
          </a:prstGeom>
          <a:solidFill>
            <a:srgbClr val="FFF6E5"/>
          </a:solidFill>
          <a:ln>
            <a:solidFill>
              <a:srgbClr val="FFF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679913FF-655B-C071-0567-8BFEFC6417E0}"/>
              </a:ext>
            </a:extLst>
          </p:cNvPr>
          <p:cNvPicPr>
            <a:picLocks noChangeAspect="1"/>
          </p:cNvPicPr>
          <p:nvPr/>
        </p:nvPicPr>
        <p:blipFill>
          <a:blip r:embed="rId3"/>
          <a:stretch>
            <a:fillRect/>
          </a:stretch>
        </p:blipFill>
        <p:spPr>
          <a:xfrm>
            <a:off x="10819535" y="89383"/>
            <a:ext cx="1300747" cy="43083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597595"/>
            <a:ext cx="1143765" cy="258465"/>
          </a:xfrm>
          <a:prstGeom prst="roundRect">
            <a:avLst>
              <a:gd name="adj" fmla="val 2948"/>
            </a:avLst>
          </a:prstGeom>
          <a:solidFill>
            <a:srgbClr val="F7EBD4"/>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63469" y="658813"/>
            <a:ext cx="136026" cy="136029"/>
          </a:xfrm>
          <a:prstGeom prst="rect">
            <a:avLst/>
          </a:prstGeom>
        </p:spPr>
      </p:pic>
      <p:sp>
        <p:nvSpPr>
          <p:cNvPr id="4" name="Text 1"/>
          <p:cNvSpPr/>
          <p:nvPr/>
        </p:nvSpPr>
        <p:spPr>
          <a:xfrm>
            <a:off x="967458" y="648593"/>
            <a:ext cx="1345373" cy="156468"/>
          </a:xfrm>
          <a:prstGeom prst="rect">
            <a:avLst/>
          </a:prstGeom>
          <a:noFill/>
          <a:ln/>
        </p:spPr>
        <p:txBody>
          <a:bodyPr wrap="none" lIns="0" tIns="0" rIns="0" bIns="0" rtlCol="0" anchor="t"/>
          <a:lstStyle/>
          <a:p>
            <a:pPr marL="0" indent="0" algn="l">
              <a:lnSpc>
                <a:spcPct val="96000"/>
              </a:lnSpc>
              <a:buNone/>
            </a:pPr>
            <a:r>
              <a:rPr lang="en-US" sz="1050" dirty="0">
                <a:solidFill>
                  <a:srgbClr val="402B2C"/>
                </a:solidFill>
                <a:latin typeface="Libre Franklin" pitchFamily="34" charset="0"/>
                <a:ea typeface="Libre Franklin" pitchFamily="34" charset="-122"/>
                <a:cs typeface="Libre Franklin" pitchFamily="34" charset="-120"/>
              </a:rPr>
              <a:t>OVERVIEW</a:t>
            </a:r>
            <a:endParaRPr lang="en-US" sz="1050" dirty="0"/>
          </a:p>
        </p:txBody>
      </p:sp>
      <p:sp>
        <p:nvSpPr>
          <p:cNvPr id="5" name="Text 2"/>
          <p:cNvSpPr/>
          <p:nvPr/>
        </p:nvSpPr>
        <p:spPr>
          <a:xfrm>
            <a:off x="661475" y="917277"/>
            <a:ext cx="10868745" cy="531614"/>
          </a:xfrm>
          <a:prstGeom prst="rect">
            <a:avLst/>
          </a:prstGeom>
          <a:noFill/>
          <a:ln/>
        </p:spPr>
        <p:txBody>
          <a:bodyPr wrap="none" lIns="0" tIns="0" rIns="0" bIns="0" rtlCol="0" anchor="t"/>
          <a:lstStyle/>
          <a:p>
            <a:r>
              <a:rPr lang="en-IN" sz="4000" b="1" dirty="0">
                <a:latin typeface="Angsana New" panose="02020603050405020304" pitchFamily="18" charset="-34"/>
                <a:cs typeface="Angsana New" panose="02020603050405020304" pitchFamily="18" charset="-34"/>
              </a:rPr>
              <a:t>Project  design</a:t>
            </a:r>
          </a:p>
        </p:txBody>
      </p:sp>
      <p:sp>
        <p:nvSpPr>
          <p:cNvPr id="8" name="Text 5"/>
          <p:cNvSpPr/>
          <p:nvPr/>
        </p:nvSpPr>
        <p:spPr>
          <a:xfrm>
            <a:off x="649182" y="1560982"/>
            <a:ext cx="11141504" cy="4638080"/>
          </a:xfrm>
          <a:prstGeom prst="rect">
            <a:avLst/>
          </a:prstGeom>
          <a:noFill/>
          <a:ln/>
        </p:spPr>
        <p:txBody>
          <a:bodyPr wrap="square" lIns="0" tIns="0" rIns="0" bIns="0" rtlCol="0" anchor="t">
            <a:noAutofit/>
          </a:bodyPr>
          <a:lstStyle/>
          <a:p>
            <a:r>
              <a:rPr lang="en-US" sz="2800" dirty="0">
                <a:solidFill>
                  <a:srgbClr val="402B2C"/>
                </a:solidFill>
                <a:latin typeface="Angsana New" panose="02020603050405020304" pitchFamily="18" charset="-34"/>
                <a:ea typeface="Libre Franklin" pitchFamily="34" charset="-122"/>
                <a:cs typeface="Angsana New" panose="02020603050405020304" pitchFamily="18" charset="-34"/>
              </a:rPr>
              <a:t>Online</a:t>
            </a:r>
            <a:r>
              <a:rPr lang="en-IN" sz="2800" dirty="0">
                <a:latin typeface="Angsana New" panose="02020603050405020304" pitchFamily="18" charset="-34"/>
                <a:cs typeface="Angsana New" panose="02020603050405020304" pitchFamily="18" charset="-34"/>
              </a:rPr>
              <a:t>The </a:t>
            </a:r>
            <a:r>
              <a:rPr lang="en-IN" sz="2800" b="1" dirty="0">
                <a:latin typeface="Angsana New" panose="02020603050405020304" pitchFamily="18" charset="-34"/>
                <a:cs typeface="Angsana New" panose="02020603050405020304" pitchFamily="18" charset="-34"/>
              </a:rPr>
              <a:t>Learning Management: Online Quiz System</a:t>
            </a:r>
            <a:r>
              <a:rPr lang="en-IN" sz="2800" dirty="0">
                <a:latin typeface="Angsana New" panose="02020603050405020304" pitchFamily="18" charset="-34"/>
                <a:cs typeface="Angsana New" panose="02020603050405020304" pitchFamily="18" charset="-34"/>
              </a:rPr>
              <a:t> is designed as a </a:t>
            </a:r>
            <a:r>
              <a:rPr lang="en-IN" sz="2800" b="1" dirty="0">
                <a:latin typeface="Angsana New" panose="02020603050405020304" pitchFamily="18" charset="-34"/>
                <a:cs typeface="Angsana New" panose="02020603050405020304" pitchFamily="18" charset="-34"/>
              </a:rPr>
              <a:t>secure, modular, and scalable service-oriented platform</a:t>
            </a:r>
            <a:r>
              <a:rPr lang="en-IN" sz="2800" dirty="0">
                <a:latin typeface="Angsana New" panose="02020603050405020304" pitchFamily="18" charset="-34"/>
                <a:cs typeface="Angsana New" panose="02020603050405020304" pitchFamily="18" charset="-34"/>
              </a:rPr>
              <a:t> for creating, conducting, evaluating, and managing online assessments. The system follows a </a:t>
            </a:r>
            <a:r>
              <a:rPr lang="en-IN" sz="2800" b="1" dirty="0">
                <a:latin typeface="Angsana New" panose="02020603050405020304" pitchFamily="18" charset="-34"/>
                <a:cs typeface="Angsana New" panose="02020603050405020304" pitchFamily="18" charset="-34"/>
              </a:rPr>
              <a:t>Microservice Architecture</a:t>
            </a:r>
            <a:r>
              <a:rPr lang="en-IN" sz="2800" dirty="0">
                <a:latin typeface="Angsana New" panose="02020603050405020304" pitchFamily="18" charset="-34"/>
                <a:cs typeface="Angsana New" panose="02020603050405020304" pitchFamily="18" charset="-34"/>
              </a:rPr>
              <a:t>, where the complete application is divided into independent services such as </a:t>
            </a:r>
            <a:r>
              <a:rPr lang="en-IN" sz="2800" b="1" dirty="0">
                <a:latin typeface="Angsana New" panose="02020603050405020304" pitchFamily="18" charset="-34"/>
                <a:cs typeface="Angsana New" panose="02020603050405020304" pitchFamily="18" charset="-34"/>
              </a:rPr>
              <a:t>Authentication Service, User Service, Question Service, Quiz Service, Assessment Service, and Result Service</a:t>
            </a:r>
            <a:r>
              <a:rPr lang="en-IN" sz="2800" dirty="0">
                <a:latin typeface="Angsana New" panose="02020603050405020304" pitchFamily="18" charset="-34"/>
                <a:cs typeface="Angsana New" panose="02020603050405020304" pitchFamily="18" charset="-34"/>
              </a:rPr>
              <a:t>. The platform supports three major roles — </a:t>
            </a:r>
            <a:r>
              <a:rPr lang="en-IN" sz="2800" b="1" dirty="0">
                <a:latin typeface="Angsana New" panose="02020603050405020304" pitchFamily="18" charset="-34"/>
                <a:cs typeface="Angsana New" panose="02020603050405020304" pitchFamily="18" charset="-34"/>
              </a:rPr>
              <a:t>Administrator, Instructor, and Student</a:t>
            </a:r>
            <a:r>
              <a:rPr lang="en-IN" sz="2800" dirty="0">
                <a:latin typeface="Angsana New" panose="02020603050405020304" pitchFamily="18" charset="-34"/>
                <a:cs typeface="Angsana New" panose="02020603050405020304" pitchFamily="18" charset="-34"/>
              </a:rPr>
              <a:t> — with role-based access to ensure that each user can perform only the operations relevant to their role. The architecture consists of a web-based frontend, API Gateway, REST-based communication, microservices, and a relational database. In addition to standard quiz functionality, the design incorporates </a:t>
            </a:r>
            <a:r>
              <a:rPr lang="en-IN" sz="2800" b="1" dirty="0">
                <a:latin typeface="Angsana New" panose="02020603050405020304" pitchFamily="18" charset="-34"/>
                <a:cs typeface="Angsana New" panose="02020603050405020304" pitchFamily="18" charset="-34"/>
              </a:rPr>
              <a:t>Common Mistake Analysis, Question Lifecycle Tracking, Assessment Balance Checking, and One-Time Quiz Access Tokens</a:t>
            </a:r>
            <a:r>
              <a:rPr lang="en-IN" sz="2800" dirty="0">
                <a:latin typeface="Angsana New" panose="02020603050405020304" pitchFamily="18" charset="-34"/>
                <a:cs typeface="Angsana New" panose="02020603050405020304" pitchFamily="18" charset="-34"/>
              </a:rPr>
              <a:t> to improve assessment management and security.  </a:t>
            </a:r>
          </a:p>
        </p:txBody>
      </p:sp>
      <p:sp>
        <p:nvSpPr>
          <p:cNvPr id="20" name="Text 17"/>
          <p:cNvSpPr/>
          <p:nvPr/>
        </p:nvSpPr>
        <p:spPr>
          <a:xfrm>
            <a:off x="850581" y="5295503"/>
            <a:ext cx="4979565" cy="517128"/>
          </a:xfrm>
          <a:prstGeom prst="rect">
            <a:avLst/>
          </a:prstGeom>
          <a:noFill/>
          <a:ln/>
        </p:spPr>
        <p:txBody>
          <a:bodyPr wrap="square" lIns="0" tIns="0" rIns="0" bIns="0" rtlCol="0" anchor="t">
            <a:normAutofit/>
          </a:bodyPr>
          <a:lstStyle/>
          <a:p>
            <a:pPr marL="0" indent="0" algn="l">
              <a:lnSpc>
                <a:spcPct val="127000"/>
              </a:lnSpc>
              <a:buNone/>
            </a:pPr>
            <a:endParaRPr lang="en-US" sz="1300" dirty="0"/>
          </a:p>
        </p:txBody>
      </p:sp>
      <p:sp>
        <p:nvSpPr>
          <p:cNvPr id="24" name="Rectangle 23">
            <a:extLst>
              <a:ext uri="{FF2B5EF4-FFF2-40B4-BE49-F238E27FC236}">
                <a16:creationId xmlns:a16="http://schemas.microsoft.com/office/drawing/2014/main" id="{9E3184BC-D027-9958-C545-978181D6B143}"/>
              </a:ext>
            </a:extLst>
          </p:cNvPr>
          <p:cNvSpPr/>
          <p:nvPr/>
        </p:nvSpPr>
        <p:spPr>
          <a:xfrm>
            <a:off x="10999694" y="6311153"/>
            <a:ext cx="1129553" cy="484094"/>
          </a:xfrm>
          <a:prstGeom prst="rect">
            <a:avLst/>
          </a:prstGeom>
          <a:solidFill>
            <a:srgbClr val="FFF6E5"/>
          </a:solidFill>
          <a:ln>
            <a:solidFill>
              <a:srgbClr val="FFF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klh_logo_background_fixed.png"/>
          <p:cNvPicPr>
            <a:picLocks noChangeAspect="1"/>
          </p:cNvPicPr>
          <p:nvPr/>
        </p:nvPicPr>
        <p:blipFill>
          <a:blip r:embed="rId4"/>
          <a:stretch>
            <a:fillRect/>
          </a:stretch>
        </p:blipFill>
        <p:spPr>
          <a:xfrm>
            <a:off x="10249380" y="0"/>
            <a:ext cx="1942620" cy="622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8F66A-627E-365B-9B69-96027A555CE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2933A88-6775-383D-4BED-24CCF4F0752D}"/>
              </a:ext>
            </a:extLst>
          </p:cNvPr>
          <p:cNvSpPr/>
          <p:nvPr/>
        </p:nvSpPr>
        <p:spPr>
          <a:xfrm>
            <a:off x="661475" y="597595"/>
            <a:ext cx="1143765" cy="258465"/>
          </a:xfrm>
          <a:prstGeom prst="roundRect">
            <a:avLst>
              <a:gd name="adj" fmla="val 2948"/>
            </a:avLst>
          </a:prstGeom>
          <a:solidFill>
            <a:srgbClr val="F7EBD4"/>
          </a:solidFill>
          <a:ln/>
        </p:spPr>
        <p:txBody>
          <a:bodyPr/>
          <a:lstStyle/>
          <a:p>
            <a:endParaRPr lang="en-US"/>
          </a:p>
        </p:txBody>
      </p:sp>
      <p:pic>
        <p:nvPicPr>
          <p:cNvPr id="3" name="Image 0" descr="preencoded.png">
            <a:extLst>
              <a:ext uri="{FF2B5EF4-FFF2-40B4-BE49-F238E27FC236}">
                <a16:creationId xmlns:a16="http://schemas.microsoft.com/office/drawing/2014/main" id="{B077D1C8-5C6C-65DF-C76E-AAABADFC9E14}"/>
              </a:ext>
            </a:extLst>
          </p:cNvPr>
          <p:cNvPicPr>
            <a:picLocks noChangeAspect="1"/>
          </p:cNvPicPr>
          <p:nvPr/>
        </p:nvPicPr>
        <p:blipFill>
          <a:blip r:embed="rId3"/>
          <a:stretch>
            <a:fillRect/>
          </a:stretch>
        </p:blipFill>
        <p:spPr>
          <a:xfrm>
            <a:off x="763469" y="658813"/>
            <a:ext cx="136026" cy="136029"/>
          </a:xfrm>
          <a:prstGeom prst="rect">
            <a:avLst/>
          </a:prstGeom>
        </p:spPr>
      </p:pic>
      <p:sp>
        <p:nvSpPr>
          <p:cNvPr id="4" name="Text 1">
            <a:extLst>
              <a:ext uri="{FF2B5EF4-FFF2-40B4-BE49-F238E27FC236}">
                <a16:creationId xmlns:a16="http://schemas.microsoft.com/office/drawing/2014/main" id="{CBA43755-1AE4-1F6C-84ED-A802A149D111}"/>
              </a:ext>
            </a:extLst>
          </p:cNvPr>
          <p:cNvSpPr/>
          <p:nvPr/>
        </p:nvSpPr>
        <p:spPr>
          <a:xfrm>
            <a:off x="967458" y="648593"/>
            <a:ext cx="1345373" cy="156468"/>
          </a:xfrm>
          <a:prstGeom prst="rect">
            <a:avLst/>
          </a:prstGeom>
          <a:noFill/>
          <a:ln/>
        </p:spPr>
        <p:txBody>
          <a:bodyPr wrap="none" lIns="0" tIns="0" rIns="0" bIns="0" rtlCol="0" anchor="t"/>
          <a:lstStyle/>
          <a:p>
            <a:pPr marL="0" indent="0" algn="l">
              <a:lnSpc>
                <a:spcPct val="96000"/>
              </a:lnSpc>
              <a:buNone/>
            </a:pPr>
            <a:r>
              <a:rPr lang="en-US" sz="1050" dirty="0">
                <a:solidFill>
                  <a:srgbClr val="402B2C"/>
                </a:solidFill>
                <a:latin typeface="Libre Franklin" pitchFamily="34" charset="0"/>
                <a:ea typeface="Libre Franklin" pitchFamily="34" charset="-122"/>
                <a:cs typeface="Libre Franklin" pitchFamily="34" charset="-120"/>
              </a:rPr>
              <a:t>OVERVIEW</a:t>
            </a:r>
            <a:endParaRPr lang="en-US" sz="1050" dirty="0"/>
          </a:p>
        </p:txBody>
      </p:sp>
      <p:sp>
        <p:nvSpPr>
          <p:cNvPr id="5" name="Text 2">
            <a:extLst>
              <a:ext uri="{FF2B5EF4-FFF2-40B4-BE49-F238E27FC236}">
                <a16:creationId xmlns:a16="http://schemas.microsoft.com/office/drawing/2014/main" id="{FE17F83B-FA3E-B841-6786-BD0DCEA85185}"/>
              </a:ext>
            </a:extLst>
          </p:cNvPr>
          <p:cNvSpPr/>
          <p:nvPr/>
        </p:nvSpPr>
        <p:spPr>
          <a:xfrm>
            <a:off x="661475" y="917277"/>
            <a:ext cx="10868745" cy="531614"/>
          </a:xfrm>
          <a:prstGeom prst="rect">
            <a:avLst/>
          </a:prstGeom>
          <a:noFill/>
          <a:ln/>
        </p:spPr>
        <p:txBody>
          <a:bodyPr wrap="none" lIns="0" tIns="0" rIns="0" bIns="0" rtlCol="0" anchor="t"/>
          <a:lstStyle/>
          <a:p>
            <a:r>
              <a:rPr lang="en-IN" sz="4000" b="1" dirty="0">
                <a:latin typeface="Angsana New" panose="02020603050405020304" pitchFamily="18" charset="-34"/>
                <a:cs typeface="Angsana New" panose="02020603050405020304" pitchFamily="18" charset="-34"/>
              </a:rPr>
              <a:t>METHODOLOGY</a:t>
            </a:r>
          </a:p>
        </p:txBody>
      </p:sp>
      <p:sp>
        <p:nvSpPr>
          <p:cNvPr id="8" name="Text 5">
            <a:extLst>
              <a:ext uri="{FF2B5EF4-FFF2-40B4-BE49-F238E27FC236}">
                <a16:creationId xmlns:a16="http://schemas.microsoft.com/office/drawing/2014/main" id="{74443AAE-9616-F756-1534-0D146231E99B}"/>
              </a:ext>
            </a:extLst>
          </p:cNvPr>
          <p:cNvSpPr/>
          <p:nvPr/>
        </p:nvSpPr>
        <p:spPr>
          <a:xfrm>
            <a:off x="649182" y="1560982"/>
            <a:ext cx="11141504" cy="4638080"/>
          </a:xfrm>
          <a:prstGeom prst="rect">
            <a:avLst/>
          </a:prstGeom>
          <a:noFill/>
          <a:ln/>
        </p:spPr>
        <p:txBody>
          <a:bodyPr wrap="square" lIns="0" tIns="0" rIns="0" bIns="0" rtlCol="0" anchor="t">
            <a:noAutofit/>
          </a:bodyPr>
          <a:lstStyle/>
          <a:p>
            <a:r>
              <a:rPr lang="en-IN" sz="2800" dirty="0">
                <a:latin typeface="Angsana New" panose="02020603050405020304" pitchFamily="18" charset="-34"/>
                <a:cs typeface="Angsana New" panose="02020603050405020304" pitchFamily="18" charset="-34"/>
              </a:rPr>
              <a:t>The project follows a </a:t>
            </a:r>
            <a:r>
              <a:rPr lang="en-IN" sz="2800" b="1" dirty="0">
                <a:latin typeface="Angsana New" panose="02020603050405020304" pitchFamily="18" charset="-34"/>
                <a:cs typeface="Angsana New" panose="02020603050405020304" pitchFamily="18" charset="-34"/>
              </a:rPr>
              <a:t>modular and service-oriented development methodology</a:t>
            </a:r>
            <a:r>
              <a:rPr lang="en-IN" sz="2800" dirty="0">
                <a:latin typeface="Angsana New" panose="02020603050405020304" pitchFamily="18" charset="-34"/>
                <a:cs typeface="Angsana New" panose="02020603050405020304" pitchFamily="18" charset="-34"/>
              </a:rPr>
              <a:t>, where the overall system is divided into independent components that can be developed, integrated, and maintained separately. The methodology begins with </a:t>
            </a:r>
            <a:r>
              <a:rPr lang="en-IN" sz="2800" b="1" dirty="0">
                <a:latin typeface="Angsana New" panose="02020603050405020304" pitchFamily="18" charset="-34"/>
                <a:cs typeface="Angsana New" panose="02020603050405020304" pitchFamily="18" charset="-34"/>
              </a:rPr>
              <a:t>requirement identification and system analysis</a:t>
            </a:r>
            <a:r>
              <a:rPr lang="en-IN" sz="2800" dirty="0">
                <a:latin typeface="Angsana New" panose="02020603050405020304" pitchFamily="18" charset="-34"/>
                <a:cs typeface="Angsana New" panose="02020603050405020304" pitchFamily="18" charset="-34"/>
              </a:rPr>
              <a:t>, focusing on the needs of administrators, instructors, and students, followed by the design of the system architecture, user roles, services, database structure, and functional workflows. The core services are then structured for </a:t>
            </a:r>
            <a:r>
              <a:rPr lang="en-IN" sz="2800" b="1" dirty="0">
                <a:latin typeface="Angsana New" panose="02020603050405020304" pitchFamily="18" charset="-34"/>
                <a:cs typeface="Angsana New" panose="02020603050405020304" pitchFamily="18" charset="-34"/>
              </a:rPr>
              <a:t>authentication, user management, question management, quiz creation and scheduling, assessment processing, and result generation</a:t>
            </a:r>
            <a:r>
              <a:rPr lang="en-IN" sz="2800" dirty="0">
                <a:latin typeface="Angsana New" panose="02020603050405020304" pitchFamily="18" charset="-34"/>
                <a:cs typeface="Angsana New" panose="02020603050405020304" pitchFamily="18" charset="-34"/>
              </a:rPr>
              <a:t>. Communication between services is achieved through </a:t>
            </a:r>
            <a:r>
              <a:rPr lang="en-IN" sz="2800" b="1" dirty="0">
                <a:latin typeface="Angsana New" panose="02020603050405020304" pitchFamily="18" charset="-34"/>
                <a:cs typeface="Angsana New" panose="02020603050405020304" pitchFamily="18" charset="-34"/>
              </a:rPr>
              <a:t>REST APIs</a:t>
            </a:r>
            <a:r>
              <a:rPr lang="en-IN" sz="2800" dirty="0">
                <a:latin typeface="Angsana New" panose="02020603050405020304" pitchFamily="18" charset="-34"/>
                <a:cs typeface="Angsana New" panose="02020603050405020304" pitchFamily="18" charset="-34"/>
              </a:rPr>
              <a:t>, while the complete assessment workflow connects quiz creation, balance verification, scheduling, secure student access, quiz attempt, automated evaluation, result generation, mistake analysis, and performance storage. This methodology promotes </a:t>
            </a:r>
            <a:r>
              <a:rPr lang="en-IN" sz="2800" b="1" dirty="0">
                <a:latin typeface="Angsana New" panose="02020603050405020304" pitchFamily="18" charset="-34"/>
                <a:cs typeface="Angsana New" panose="02020603050405020304" pitchFamily="18" charset="-34"/>
              </a:rPr>
              <a:t>modularity, maintainability, scalability, and clear separation of responsibilities</a:t>
            </a:r>
            <a:r>
              <a:rPr lang="en-IN" sz="2800" dirty="0">
                <a:latin typeface="Angsana New" panose="02020603050405020304" pitchFamily="18" charset="-34"/>
                <a:cs typeface="Angsana New" panose="02020603050405020304" pitchFamily="18" charset="-34"/>
              </a:rPr>
              <a:t> across the system.</a:t>
            </a:r>
            <a:endParaRPr lang="en-IN" sz="2800" dirty="0"/>
          </a:p>
        </p:txBody>
      </p:sp>
      <p:sp>
        <p:nvSpPr>
          <p:cNvPr id="20" name="Text 17">
            <a:extLst>
              <a:ext uri="{FF2B5EF4-FFF2-40B4-BE49-F238E27FC236}">
                <a16:creationId xmlns:a16="http://schemas.microsoft.com/office/drawing/2014/main" id="{E80AD7C1-D5E5-C2A7-E6B8-B1D4E2A645CD}"/>
              </a:ext>
            </a:extLst>
          </p:cNvPr>
          <p:cNvSpPr/>
          <p:nvPr/>
        </p:nvSpPr>
        <p:spPr>
          <a:xfrm>
            <a:off x="850581" y="5295503"/>
            <a:ext cx="4979565" cy="517128"/>
          </a:xfrm>
          <a:prstGeom prst="rect">
            <a:avLst/>
          </a:prstGeom>
          <a:noFill/>
          <a:ln/>
        </p:spPr>
        <p:txBody>
          <a:bodyPr wrap="square" lIns="0" tIns="0" rIns="0" bIns="0" rtlCol="0" anchor="t">
            <a:normAutofit/>
          </a:bodyPr>
          <a:lstStyle/>
          <a:p>
            <a:pPr marL="0" indent="0" algn="l">
              <a:lnSpc>
                <a:spcPct val="127000"/>
              </a:lnSpc>
              <a:buNone/>
            </a:pPr>
            <a:endParaRPr lang="en-US" sz="1300" dirty="0"/>
          </a:p>
        </p:txBody>
      </p:sp>
      <p:sp>
        <p:nvSpPr>
          <p:cNvPr id="24" name="Rectangle 23">
            <a:extLst>
              <a:ext uri="{FF2B5EF4-FFF2-40B4-BE49-F238E27FC236}">
                <a16:creationId xmlns:a16="http://schemas.microsoft.com/office/drawing/2014/main" id="{5851CC39-61E5-C733-59B9-F936C8F7E346}"/>
              </a:ext>
            </a:extLst>
          </p:cNvPr>
          <p:cNvSpPr/>
          <p:nvPr/>
        </p:nvSpPr>
        <p:spPr>
          <a:xfrm>
            <a:off x="10999694" y="6311153"/>
            <a:ext cx="1129553" cy="484094"/>
          </a:xfrm>
          <a:prstGeom prst="rect">
            <a:avLst/>
          </a:prstGeom>
          <a:solidFill>
            <a:srgbClr val="FFF6E5"/>
          </a:solidFill>
          <a:ln>
            <a:solidFill>
              <a:srgbClr val="FFF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klh_logo_background_fixed.png">
            <a:extLst>
              <a:ext uri="{FF2B5EF4-FFF2-40B4-BE49-F238E27FC236}">
                <a16:creationId xmlns:a16="http://schemas.microsoft.com/office/drawing/2014/main" id="{193C5A64-B3A0-2AD8-77F7-50EAE33B3E24}"/>
              </a:ext>
            </a:extLst>
          </p:cNvPr>
          <p:cNvPicPr>
            <a:picLocks noChangeAspect="1"/>
          </p:cNvPicPr>
          <p:nvPr/>
        </p:nvPicPr>
        <p:blipFill>
          <a:blip r:embed="rId4"/>
          <a:stretch>
            <a:fillRect/>
          </a:stretch>
        </p:blipFill>
        <p:spPr>
          <a:xfrm>
            <a:off x="10249380" y="0"/>
            <a:ext cx="1942620" cy="622550"/>
          </a:xfrm>
          <a:prstGeom prst="rect">
            <a:avLst/>
          </a:prstGeom>
        </p:spPr>
      </p:pic>
    </p:spTree>
    <p:extLst>
      <p:ext uri="{BB962C8B-B14F-4D97-AF65-F5344CB8AC3E}">
        <p14:creationId xmlns:p14="http://schemas.microsoft.com/office/powerpoint/2010/main" val="4130823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637D3-0D93-3408-A655-6A19CB96281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AD4575C-7025-751A-3513-10D5C92E45EB}"/>
              </a:ext>
            </a:extLst>
          </p:cNvPr>
          <p:cNvSpPr/>
          <p:nvPr/>
        </p:nvSpPr>
        <p:spPr>
          <a:xfrm>
            <a:off x="661475" y="597595"/>
            <a:ext cx="1143765" cy="258465"/>
          </a:xfrm>
          <a:prstGeom prst="roundRect">
            <a:avLst>
              <a:gd name="adj" fmla="val 2948"/>
            </a:avLst>
          </a:prstGeom>
          <a:solidFill>
            <a:srgbClr val="F7EBD4"/>
          </a:solidFill>
          <a:ln/>
        </p:spPr>
        <p:txBody>
          <a:bodyPr/>
          <a:lstStyle/>
          <a:p>
            <a:endParaRPr lang="en-US"/>
          </a:p>
        </p:txBody>
      </p:sp>
      <p:pic>
        <p:nvPicPr>
          <p:cNvPr id="3" name="Image 0" descr="preencoded.png">
            <a:extLst>
              <a:ext uri="{FF2B5EF4-FFF2-40B4-BE49-F238E27FC236}">
                <a16:creationId xmlns:a16="http://schemas.microsoft.com/office/drawing/2014/main" id="{031D679E-E8D7-96AB-A4FA-BBF16015683F}"/>
              </a:ext>
            </a:extLst>
          </p:cNvPr>
          <p:cNvPicPr>
            <a:picLocks noChangeAspect="1"/>
          </p:cNvPicPr>
          <p:nvPr/>
        </p:nvPicPr>
        <p:blipFill>
          <a:blip r:embed="rId3"/>
          <a:stretch>
            <a:fillRect/>
          </a:stretch>
        </p:blipFill>
        <p:spPr>
          <a:xfrm>
            <a:off x="763469" y="658813"/>
            <a:ext cx="136026" cy="136029"/>
          </a:xfrm>
          <a:prstGeom prst="rect">
            <a:avLst/>
          </a:prstGeom>
        </p:spPr>
      </p:pic>
      <p:sp>
        <p:nvSpPr>
          <p:cNvPr id="4" name="Text 1">
            <a:extLst>
              <a:ext uri="{FF2B5EF4-FFF2-40B4-BE49-F238E27FC236}">
                <a16:creationId xmlns:a16="http://schemas.microsoft.com/office/drawing/2014/main" id="{CABCF8E0-2B84-11DA-D173-1F5BD3244DFB}"/>
              </a:ext>
            </a:extLst>
          </p:cNvPr>
          <p:cNvSpPr/>
          <p:nvPr/>
        </p:nvSpPr>
        <p:spPr>
          <a:xfrm>
            <a:off x="967458" y="648593"/>
            <a:ext cx="1345373" cy="156468"/>
          </a:xfrm>
          <a:prstGeom prst="rect">
            <a:avLst/>
          </a:prstGeom>
          <a:noFill/>
          <a:ln/>
        </p:spPr>
        <p:txBody>
          <a:bodyPr wrap="none" lIns="0" tIns="0" rIns="0" bIns="0" rtlCol="0" anchor="t"/>
          <a:lstStyle/>
          <a:p>
            <a:pPr marL="0" indent="0" algn="l">
              <a:lnSpc>
                <a:spcPct val="96000"/>
              </a:lnSpc>
              <a:buNone/>
            </a:pPr>
            <a:r>
              <a:rPr lang="en-US" sz="1050" dirty="0">
                <a:solidFill>
                  <a:srgbClr val="402B2C"/>
                </a:solidFill>
                <a:latin typeface="Libre Franklin" pitchFamily="34" charset="0"/>
                <a:ea typeface="Libre Franklin" pitchFamily="34" charset="-122"/>
                <a:cs typeface="Libre Franklin" pitchFamily="34" charset="-120"/>
              </a:rPr>
              <a:t>OVERVIEW</a:t>
            </a:r>
            <a:endParaRPr lang="en-US" sz="1050" dirty="0"/>
          </a:p>
        </p:txBody>
      </p:sp>
      <p:sp>
        <p:nvSpPr>
          <p:cNvPr id="5" name="Text 2">
            <a:extLst>
              <a:ext uri="{FF2B5EF4-FFF2-40B4-BE49-F238E27FC236}">
                <a16:creationId xmlns:a16="http://schemas.microsoft.com/office/drawing/2014/main" id="{9B799B38-8D36-074B-295D-B26BA3C395C5}"/>
              </a:ext>
            </a:extLst>
          </p:cNvPr>
          <p:cNvSpPr/>
          <p:nvPr/>
        </p:nvSpPr>
        <p:spPr>
          <a:xfrm>
            <a:off x="661475" y="917277"/>
            <a:ext cx="10868745" cy="531614"/>
          </a:xfrm>
          <a:prstGeom prst="rect">
            <a:avLst/>
          </a:prstGeom>
          <a:noFill/>
          <a:ln/>
        </p:spPr>
        <p:txBody>
          <a:bodyPr wrap="none" lIns="0" tIns="0" rIns="0" bIns="0" rtlCol="0" anchor="t"/>
          <a:lstStyle/>
          <a:p>
            <a:r>
              <a:rPr lang="en-IN" sz="4000" b="1" dirty="0">
                <a:latin typeface="Angsana New" panose="02020603050405020304" pitchFamily="18" charset="-34"/>
                <a:cs typeface="Angsana New" panose="02020603050405020304" pitchFamily="18" charset="-34"/>
              </a:rPr>
              <a:t>TECHNICAL SOUNDNESS OF THE PROJECT</a:t>
            </a:r>
          </a:p>
        </p:txBody>
      </p:sp>
      <p:sp>
        <p:nvSpPr>
          <p:cNvPr id="8" name="Text 5">
            <a:extLst>
              <a:ext uri="{FF2B5EF4-FFF2-40B4-BE49-F238E27FC236}">
                <a16:creationId xmlns:a16="http://schemas.microsoft.com/office/drawing/2014/main" id="{423F604C-9328-8A41-3185-E46F2AAC4F68}"/>
              </a:ext>
            </a:extLst>
          </p:cNvPr>
          <p:cNvSpPr/>
          <p:nvPr/>
        </p:nvSpPr>
        <p:spPr>
          <a:xfrm>
            <a:off x="649182" y="1560982"/>
            <a:ext cx="11141504" cy="4638080"/>
          </a:xfrm>
          <a:prstGeom prst="rect">
            <a:avLst/>
          </a:prstGeom>
          <a:noFill/>
          <a:ln/>
        </p:spPr>
        <p:txBody>
          <a:bodyPr wrap="square" lIns="0" tIns="0" rIns="0" bIns="0" rtlCol="0" anchor="t">
            <a:noAutofit/>
          </a:bodyPr>
          <a:lstStyle/>
          <a:p>
            <a:r>
              <a:rPr lang="en-IN" sz="2800" dirty="0">
                <a:latin typeface="Angsana New" panose="02020603050405020304" pitchFamily="18" charset="-34"/>
                <a:cs typeface="Angsana New" panose="02020603050405020304" pitchFamily="18" charset="-34"/>
              </a:rPr>
              <a:t>The technical foundation of the proposed system is based on </a:t>
            </a:r>
            <a:r>
              <a:rPr lang="en-IN" sz="2800" b="1" dirty="0">
                <a:latin typeface="Angsana New" panose="02020603050405020304" pitchFamily="18" charset="-34"/>
                <a:cs typeface="Angsana New" panose="02020603050405020304" pitchFamily="18" charset="-34"/>
              </a:rPr>
              <a:t>Java and Spring Boot for backend development, a web-based frontend, REST APIs for service communication, SOA/Microservices for system architecture, and a relational database for structured assessment data</a:t>
            </a:r>
            <a:r>
              <a:rPr lang="en-IN" sz="2800" dirty="0">
                <a:latin typeface="Angsana New" panose="02020603050405020304" pitchFamily="18" charset="-34"/>
                <a:cs typeface="Angsana New" panose="02020603050405020304" pitchFamily="18" charset="-34"/>
              </a:rPr>
              <a:t>. The selected architecture allows individual services to operate independently, making the system easier to maintain and allowing services to be scaled as the number of users increases. </a:t>
            </a:r>
            <a:r>
              <a:rPr lang="en-IN" sz="2800" b="1" dirty="0">
                <a:latin typeface="Angsana New" panose="02020603050405020304" pitchFamily="18" charset="-34"/>
                <a:cs typeface="Angsana New" panose="02020603050405020304" pitchFamily="18" charset="-34"/>
              </a:rPr>
              <a:t>REST APIs</a:t>
            </a:r>
            <a:r>
              <a:rPr lang="en-IN" sz="2800" dirty="0">
                <a:latin typeface="Angsana New" panose="02020603050405020304" pitchFamily="18" charset="-34"/>
                <a:cs typeface="Angsana New" panose="02020603050405020304" pitchFamily="18" charset="-34"/>
              </a:rPr>
              <a:t> provide standardized communication between the different services, while authentication and role-based access control support secure interaction with the platform. The system also uses automated evaluation to reduce manual processing and provides structured storage of questions, quizzes, assessments, results, and performance information. The combination of commonly available technologies, modular services, structured data management, and scalable architecture establishes the technical feasibility of the proposed online assessment platform. </a:t>
            </a:r>
          </a:p>
        </p:txBody>
      </p:sp>
      <p:sp>
        <p:nvSpPr>
          <p:cNvPr id="20" name="Text 17">
            <a:extLst>
              <a:ext uri="{FF2B5EF4-FFF2-40B4-BE49-F238E27FC236}">
                <a16:creationId xmlns:a16="http://schemas.microsoft.com/office/drawing/2014/main" id="{33803C71-1F69-21C0-DDD5-DEB566A17C13}"/>
              </a:ext>
            </a:extLst>
          </p:cNvPr>
          <p:cNvSpPr/>
          <p:nvPr/>
        </p:nvSpPr>
        <p:spPr>
          <a:xfrm>
            <a:off x="850581" y="5295503"/>
            <a:ext cx="4979565" cy="517128"/>
          </a:xfrm>
          <a:prstGeom prst="rect">
            <a:avLst/>
          </a:prstGeom>
          <a:noFill/>
          <a:ln/>
        </p:spPr>
        <p:txBody>
          <a:bodyPr wrap="square" lIns="0" tIns="0" rIns="0" bIns="0" rtlCol="0" anchor="t">
            <a:normAutofit/>
          </a:bodyPr>
          <a:lstStyle/>
          <a:p>
            <a:pPr marL="0" indent="0" algn="l">
              <a:lnSpc>
                <a:spcPct val="127000"/>
              </a:lnSpc>
              <a:buNone/>
            </a:pPr>
            <a:endParaRPr lang="en-US" sz="1300" dirty="0"/>
          </a:p>
        </p:txBody>
      </p:sp>
      <p:sp>
        <p:nvSpPr>
          <p:cNvPr id="24" name="Rectangle 23">
            <a:extLst>
              <a:ext uri="{FF2B5EF4-FFF2-40B4-BE49-F238E27FC236}">
                <a16:creationId xmlns:a16="http://schemas.microsoft.com/office/drawing/2014/main" id="{A79F01FB-8F6A-FF99-F32C-B71235DA86C1}"/>
              </a:ext>
            </a:extLst>
          </p:cNvPr>
          <p:cNvSpPr/>
          <p:nvPr/>
        </p:nvSpPr>
        <p:spPr>
          <a:xfrm>
            <a:off x="10999694" y="6311153"/>
            <a:ext cx="1129553" cy="484094"/>
          </a:xfrm>
          <a:prstGeom prst="rect">
            <a:avLst/>
          </a:prstGeom>
          <a:solidFill>
            <a:srgbClr val="FFF6E5"/>
          </a:solidFill>
          <a:ln>
            <a:solidFill>
              <a:srgbClr val="FFF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klh_logo_background_fixed.png">
            <a:extLst>
              <a:ext uri="{FF2B5EF4-FFF2-40B4-BE49-F238E27FC236}">
                <a16:creationId xmlns:a16="http://schemas.microsoft.com/office/drawing/2014/main" id="{95E3B53E-78F3-4207-061B-796EF0420A37}"/>
              </a:ext>
            </a:extLst>
          </p:cNvPr>
          <p:cNvPicPr>
            <a:picLocks noChangeAspect="1"/>
          </p:cNvPicPr>
          <p:nvPr/>
        </p:nvPicPr>
        <p:blipFill>
          <a:blip r:embed="rId4"/>
          <a:stretch>
            <a:fillRect/>
          </a:stretch>
        </p:blipFill>
        <p:spPr>
          <a:xfrm>
            <a:off x="10249380" y="0"/>
            <a:ext cx="1942620" cy="622550"/>
          </a:xfrm>
          <a:prstGeom prst="rect">
            <a:avLst/>
          </a:prstGeom>
        </p:spPr>
      </p:pic>
    </p:spTree>
    <p:extLst>
      <p:ext uri="{BB962C8B-B14F-4D97-AF65-F5344CB8AC3E}">
        <p14:creationId xmlns:p14="http://schemas.microsoft.com/office/powerpoint/2010/main" val="820951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FFA31-D8C4-176C-9931-3420760159F0}"/>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25B012AA-C673-5BBD-E98E-EFD09E7BAEB1}"/>
              </a:ext>
            </a:extLst>
          </p:cNvPr>
          <p:cNvSpPr/>
          <p:nvPr/>
        </p:nvSpPr>
        <p:spPr>
          <a:xfrm>
            <a:off x="4956749" y="3046867"/>
            <a:ext cx="10868745" cy="531614"/>
          </a:xfrm>
          <a:prstGeom prst="rect">
            <a:avLst/>
          </a:prstGeom>
          <a:noFill/>
          <a:ln/>
        </p:spPr>
        <p:txBody>
          <a:bodyPr wrap="none" lIns="0" tIns="0" rIns="0" bIns="0" rtlCol="0" anchor="t"/>
          <a:lstStyle/>
          <a:p>
            <a:r>
              <a:rPr lang="en-IN" sz="4000" b="1" dirty="0">
                <a:latin typeface="Angsana New" panose="02020603050405020304" pitchFamily="18" charset="-34"/>
                <a:cs typeface="Angsana New" panose="02020603050405020304" pitchFamily="18" charset="-34"/>
              </a:rPr>
              <a:t>THANK YOU.</a:t>
            </a:r>
          </a:p>
        </p:txBody>
      </p:sp>
      <p:sp>
        <p:nvSpPr>
          <p:cNvPr id="20" name="Text 17">
            <a:extLst>
              <a:ext uri="{FF2B5EF4-FFF2-40B4-BE49-F238E27FC236}">
                <a16:creationId xmlns:a16="http://schemas.microsoft.com/office/drawing/2014/main" id="{1FC409F7-A0D9-B275-52DC-A872A60969FD}"/>
              </a:ext>
            </a:extLst>
          </p:cNvPr>
          <p:cNvSpPr/>
          <p:nvPr/>
        </p:nvSpPr>
        <p:spPr>
          <a:xfrm>
            <a:off x="850581" y="5295503"/>
            <a:ext cx="4979565" cy="517128"/>
          </a:xfrm>
          <a:prstGeom prst="rect">
            <a:avLst/>
          </a:prstGeom>
          <a:noFill/>
          <a:ln/>
        </p:spPr>
        <p:txBody>
          <a:bodyPr wrap="square" lIns="0" tIns="0" rIns="0" bIns="0" rtlCol="0" anchor="t">
            <a:normAutofit/>
          </a:bodyPr>
          <a:lstStyle/>
          <a:p>
            <a:pPr marL="0" indent="0" algn="l">
              <a:lnSpc>
                <a:spcPct val="127000"/>
              </a:lnSpc>
              <a:buNone/>
            </a:pPr>
            <a:endParaRPr lang="en-US" sz="1300" dirty="0"/>
          </a:p>
        </p:txBody>
      </p:sp>
      <p:sp>
        <p:nvSpPr>
          <p:cNvPr id="24" name="Rectangle 23">
            <a:extLst>
              <a:ext uri="{FF2B5EF4-FFF2-40B4-BE49-F238E27FC236}">
                <a16:creationId xmlns:a16="http://schemas.microsoft.com/office/drawing/2014/main" id="{964430B2-4AB7-4C82-1481-0F6189926D12}"/>
              </a:ext>
            </a:extLst>
          </p:cNvPr>
          <p:cNvSpPr/>
          <p:nvPr/>
        </p:nvSpPr>
        <p:spPr>
          <a:xfrm>
            <a:off x="10999694" y="6311153"/>
            <a:ext cx="1129553" cy="484094"/>
          </a:xfrm>
          <a:prstGeom prst="rect">
            <a:avLst/>
          </a:prstGeom>
          <a:solidFill>
            <a:srgbClr val="FFF6E5"/>
          </a:solidFill>
          <a:ln>
            <a:solidFill>
              <a:srgbClr val="FFF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klh_logo_background_fixed.png">
            <a:extLst>
              <a:ext uri="{FF2B5EF4-FFF2-40B4-BE49-F238E27FC236}">
                <a16:creationId xmlns:a16="http://schemas.microsoft.com/office/drawing/2014/main" id="{29CE44CC-7692-FDDB-4FAB-EC917FA5852A}"/>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20309418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TotalTime>
  <Words>542</Words>
  <Application>Microsoft Macintosh PowerPoint</Application>
  <PresentationFormat>Widescreen</PresentationFormat>
  <Paragraphs>26</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Angsana New</vt:lpstr>
      <vt:lpstr>Gelasio</vt:lpstr>
      <vt:lpstr>Libre Franklin Bold</vt:lpstr>
      <vt:lpstr>Libre Franklin</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Manaswini Divi .</cp:lastModifiedBy>
  <cp:revision>16</cp:revision>
  <dcterms:created xsi:type="dcterms:W3CDTF">2026-08-18T05:08:17Z</dcterms:created>
  <dcterms:modified xsi:type="dcterms:W3CDTF">2026-09-28T04:06:55Z</dcterms:modified>
</cp:coreProperties>
</file>