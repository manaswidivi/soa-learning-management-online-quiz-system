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embeddedFontLst>
    <p:embeddedFont>
      <p:font typeface="Gelasio" pitchFamily="2" charset="77"/>
      <p:regular r:id="rId11"/>
    </p:embeddedFont>
    <p:embeddedFont>
      <p:font typeface="Libre Franklin" pitchFamily="2" charset="77"/>
      <p:regular r:id="rId12"/>
      <p:bold r:id="rId13"/>
      <p:italic r:id="rId14"/>
      <p:boldItalic r:id="rId15"/>
    </p:embeddedFont>
    <p:embeddedFont>
      <p:font typeface="Libre Franklin Bold" pitchFamily="2" charset="77"/>
      <p:regular r:id="rId16"/>
      <p:bold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0507"/>
    <a:srgbClr val="402B2C"/>
    <a:srgbClr val="FFF6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6" d="100"/>
          <a:sy n="106" d="100"/>
        </p:scale>
        <p:origin x="56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83784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6E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svg"/><Relationship Id="rId5" Type="http://schemas.openxmlformats.org/officeDocument/2006/relationships/image" Target="../media/image12.svg"/><Relationship Id="rId4" Type="http://schemas.openxmlformats.org/officeDocument/2006/relationships/image" Target="../media/image11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232578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1475" y="3088580"/>
            <a:ext cx="2906144" cy="282674"/>
          </a:xfrm>
          <a:prstGeom prst="roundRect">
            <a:avLst>
              <a:gd name="adj" fmla="val 2696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73093" y="3144341"/>
            <a:ext cx="3292492" cy="1711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1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SOA PROJECT REVIEW-1 | 2026–2027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661475" y="3444478"/>
            <a:ext cx="6339721" cy="11628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kern="0" spc="-7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Learning Management: Online Quiz System</a:t>
            </a:r>
            <a:endParaRPr lang="en-US" sz="3650" dirty="0"/>
          </a:p>
        </p:txBody>
      </p:sp>
      <p:sp>
        <p:nvSpPr>
          <p:cNvPr id="6" name="Text 3"/>
          <p:cNvSpPr/>
          <p:nvPr/>
        </p:nvSpPr>
        <p:spPr>
          <a:xfrm>
            <a:off x="661475" y="4790480"/>
            <a:ext cx="6339721" cy="1345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32000"/>
              </a:lnSpc>
              <a:spcAft>
                <a:spcPts val="1250"/>
              </a:spcAft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Course: SOA Programming and Microservices - 24SDCS03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Under the Guidance of:</a:t>
            </a: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Navyatha Ravi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Department of Computer Science and Engineering</a:t>
            </a:r>
            <a:endParaRPr lang="en-US" sz="1450" dirty="0"/>
          </a:p>
          <a:p>
            <a:pPr marL="0" indent="0" algn="l">
              <a:lnSpc>
                <a:spcPct val="132000"/>
              </a:lnSpc>
              <a:buNone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KLH CSE Bowrampet Campus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7117976" y="4831207"/>
            <a:ext cx="232981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32000"/>
              </a:lnSpc>
              <a:buNone/>
            </a:pPr>
            <a:r>
              <a:rPr lang="en-US" sz="145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Team Members: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8045073" y="5179814"/>
            <a:ext cx="4075209" cy="1373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Bhashetty Shaanvi — 2420039806</a:t>
            </a:r>
          </a:p>
          <a:p>
            <a:pPr marL="294640" indent="-294640" algn="l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Manaswi Divi — 2420030793</a:t>
            </a:r>
          </a:p>
          <a:p>
            <a:pPr marL="294640" indent="-294640">
              <a:lnSpc>
                <a:spcPct val="132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Deeksha — 2400031669</a:t>
            </a:r>
            <a:endParaRPr lang="en-US" sz="1450" dirty="0"/>
          </a:p>
          <a:p>
            <a:pPr algn="l">
              <a:lnSpc>
                <a:spcPct val="132000"/>
              </a:lnSpc>
              <a:buSzPct val="100000"/>
            </a:pPr>
            <a:r>
              <a:rPr lang="en-US" sz="14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4.    Srija — 2420030480</a:t>
            </a:r>
            <a:endParaRPr lang="en-US" sz="14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5A946E-08F2-70B0-524A-F53137C0CA7A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B76E11-9CE5-A59B-FD12-3B3EF1D65801}"/>
              </a:ext>
            </a:extLst>
          </p:cNvPr>
          <p:cNvSpPr txBox="1"/>
          <p:nvPr/>
        </p:nvSpPr>
        <p:spPr>
          <a:xfrm>
            <a:off x="584463" y="6462680"/>
            <a:ext cx="164660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50" b="1" dirty="0">
                <a:solidFill>
                  <a:srgbClr val="402B2C"/>
                </a:solidFill>
                <a:latin typeface="Libre Franklin Bold" panose="020B0604020202020204" charset="0"/>
              </a:rPr>
              <a:t>Date: 18 August, 2026</a:t>
            </a:r>
          </a:p>
          <a:p>
            <a:endParaRPr lang="en-US" sz="1050" b="1" dirty="0">
              <a:solidFill>
                <a:srgbClr val="402B2C"/>
              </a:solidFill>
              <a:latin typeface="Libre Franklin Bold" panose="020B060402020202020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79913FF-655B-C071-0567-8BFEFC6417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9535" y="89383"/>
            <a:ext cx="1300747" cy="43083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97595"/>
            <a:ext cx="1143765" cy="258465"/>
          </a:xfrm>
          <a:prstGeom prst="roundRect">
            <a:avLst>
              <a:gd name="adj" fmla="val 2948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69" y="658813"/>
            <a:ext cx="136026" cy="13602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7458" y="648593"/>
            <a:ext cx="1345373" cy="1564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10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OVERVIEW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661475" y="917277"/>
            <a:ext cx="10868745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300" kern="0" spc="-6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Outline of Project Work</a:t>
            </a:r>
            <a:endParaRPr lang="en-US" sz="3300" dirty="0"/>
          </a:p>
        </p:txBody>
      </p:sp>
      <p:sp>
        <p:nvSpPr>
          <p:cNvPr id="6" name="Shape 3"/>
          <p:cNvSpPr/>
          <p:nvPr/>
        </p:nvSpPr>
        <p:spPr>
          <a:xfrm>
            <a:off x="661475" y="1678484"/>
            <a:ext cx="5357778" cy="1252835"/>
          </a:xfrm>
          <a:prstGeom prst="roundRect">
            <a:avLst>
              <a:gd name="adj" fmla="val 608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850581" y="1867595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Focus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850581" y="2225080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learning assessment and quiz management using SOA/microservices architecture.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343" y="1678484"/>
            <a:ext cx="5357877" cy="1252835"/>
          </a:xfrm>
          <a:prstGeom prst="roundRect">
            <a:avLst>
              <a:gd name="adj" fmla="val 608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361449" y="1867595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6361449" y="2225080"/>
            <a:ext cx="4979664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Need for a digital platform for creating, conducting, evaluating and managing online quizzes in academic settings.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61475" y="3084413"/>
            <a:ext cx="5357778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50581" y="3273524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</a:t>
            </a:r>
            <a:endParaRPr lang="en-US" sz="1650" dirty="0"/>
          </a:p>
        </p:txBody>
      </p:sp>
      <p:sp>
        <p:nvSpPr>
          <p:cNvPr id="14" name="Text 11"/>
          <p:cNvSpPr/>
          <p:nvPr/>
        </p:nvSpPr>
        <p:spPr>
          <a:xfrm>
            <a:off x="850581" y="3631009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Manual quiz preparation, evaluation effort, delayed feedback, centralized management, scalability and secure access.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172343" y="3084413"/>
            <a:ext cx="5357877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361449" y="3273524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Objectives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6361449" y="3631009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 an online quiz platform with secure access, quiz/question management, automated evaluation and result tracking using SOA/microservices.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1475" y="4748907"/>
            <a:ext cx="5357778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850581" y="4938018"/>
            <a:ext cx="4979565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 &amp; Future Work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50581" y="5295503"/>
            <a:ext cx="4979565" cy="517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Efficient online assessment via modular architecture; future: enhanced analytics, reporting, additional assessment types.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172343" y="4748907"/>
            <a:ext cx="5357877" cy="1511399"/>
          </a:xfrm>
          <a:prstGeom prst="roundRect">
            <a:avLst>
              <a:gd name="adj" fmla="val 504"/>
            </a:avLst>
          </a:prstGeom>
          <a:solidFill>
            <a:srgbClr val="FFF6E5"/>
          </a:solidFill>
          <a:ln w="190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361449" y="4938018"/>
            <a:ext cx="4979664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5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References &amp; Publications</a:t>
            </a:r>
            <a:endParaRPr lang="en-US" sz="1650" dirty="0"/>
          </a:p>
        </p:txBody>
      </p:sp>
      <p:sp>
        <p:nvSpPr>
          <p:cNvPr id="23" name="Text 20"/>
          <p:cNvSpPr/>
          <p:nvPr/>
        </p:nvSpPr>
        <p:spPr>
          <a:xfrm>
            <a:off x="6361449" y="5295503"/>
            <a:ext cx="4979664" cy="775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3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Research literature on LMS, online assessment and SOA/microservices. </a:t>
            </a:r>
            <a:r>
              <a:rPr lang="en-US" sz="1300" i="1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No publication at this stage — project under development.</a:t>
            </a:r>
            <a:endParaRPr lang="en-US" sz="13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E3184BC-D027-9958-C545-978181D6B143}"/>
              </a:ext>
            </a:extLst>
          </p:cNvPr>
          <p:cNvSpPr/>
          <p:nvPr/>
        </p:nvSpPr>
        <p:spPr>
          <a:xfrm>
            <a:off x="10999694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klh_logo_background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776387"/>
            <a:ext cx="1609486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827286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818852"/>
            <a:ext cx="1878958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PROBLEM STATEMENT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03415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655530" y="1562101"/>
            <a:ext cx="3681902" cy="4022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Introduction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475" y="2070596"/>
            <a:ext cx="3579227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assessment is an essential part of modern learning management. An online quiz platform provides accessible, organized, and timely evaluation for both students and instructors in academic environments.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61475" y="3217763"/>
            <a:ext cx="3579227" cy="19050"/>
          </a:xfrm>
          <a:prstGeom prst="roundRect">
            <a:avLst>
              <a:gd name="adj" fmla="val 49999"/>
            </a:avLst>
          </a:prstGeom>
          <a:solidFill>
            <a:srgbClr val="402B2C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661475" y="3391793"/>
            <a:ext cx="357922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Statement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5529" y="3834210"/>
            <a:ext cx="3579227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There is a need for a </a:t>
            </a:r>
            <a:r>
              <a:rPr lang="en-US" sz="12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reliable, secure, scalable and automated online quiz system</a:t>
            </a: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that enables administrators/instructors to manage users, questions, quizzes and schedules while allowing students to securely attempt quizzes and receive timely results.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92919" y="1742877"/>
            <a:ext cx="694355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Challenges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4592919" y="2159198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4770021" y="2083891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Question Preparation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4770021" y="2411611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Preparing paper-based or digitally unstructured question sets is time-consuming and error-prone.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592919" y="2897981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770021" y="2822674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Manual Evaluation &amp; Delayed Feedback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4770021" y="3150394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Paper-based or semi-digital evaluation causes delays in result declaration and student feedback.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592919" y="3636764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770021" y="3561457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Managing Large Student Populations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4770021" y="3889177"/>
            <a:ext cx="676645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Difficulty in handling large cohorts, maintaining question banks, quiz records and schedules simultaneously.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592919" y="4573984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4770021" y="4498677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Security &amp; Role Management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770021" y="4826397"/>
            <a:ext cx="6766450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Ensuring secure access and appropriate role-based permissions for admins, instructors and students.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92919" y="5312767"/>
            <a:ext cx="70840" cy="70842"/>
          </a:xfrm>
          <a:prstGeom prst="ellipse">
            <a:avLst/>
          </a:prstGeom>
          <a:solidFill>
            <a:srgbClr val="F5E6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770021" y="5237460"/>
            <a:ext cx="6766450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kern="0" spc="-28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Scalability &amp; Maintainability</a:t>
            </a:r>
            <a:endParaRPr lang="en-US" sz="1350" dirty="0"/>
          </a:p>
        </p:txBody>
      </p:sp>
      <p:sp>
        <p:nvSpPr>
          <p:cNvPr id="26" name="Text 23"/>
          <p:cNvSpPr/>
          <p:nvPr/>
        </p:nvSpPr>
        <p:spPr>
          <a:xfrm>
            <a:off x="4770021" y="5565180"/>
            <a:ext cx="6766450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Poorly structured monolithic systems face serious scalability and maintenance challenges as user base grows.</a:t>
            </a:r>
            <a:endParaRPr lang="en-US" sz="11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A8FA778-E3A4-2211-53FE-0D9796DF96E6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klh_logo_background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62967"/>
            <a:ext cx="1012700" cy="211832"/>
          </a:xfrm>
          <a:prstGeom prst="roundRect">
            <a:avLst>
              <a:gd name="adj" fmla="val 3597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114" y="613073"/>
            <a:ext cx="111618" cy="1116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2492" y="604738"/>
            <a:ext cx="1287629" cy="1282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OBJECTIVES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815975"/>
            <a:ext cx="10868745" cy="436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00" kern="0" spc="-5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Objectives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32793" y="1406525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85129" y="143266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78382" y="1454448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Online Quiz Platform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78382" y="1734245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 an online platform for creating and conducting quizzes with a user-friendly interface.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2793" y="2134295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85129" y="2160439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078382" y="2182217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Secure Authentication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078382" y="2462014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Provide secure authentication and role-based access control for administrators, instructors and students.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32793" y="2862064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85129" y="288820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78382" y="2909987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Subject, Question &amp; Quiz Management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78382" y="3189784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Enable administrators/instructors to manage subjects, question banks, quizzes and schedules centrally.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32793" y="3589834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85129" y="3615978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078382" y="3637756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Student Quiz Access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078382" y="3917553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Allow students to securely access and attempt available quizzes within defined schedules.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32793" y="4317603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5129" y="434374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1078382" y="4365526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Automated Evaluation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1078382" y="4645323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 evaluation of objective-type questions and generate immediate results upon quiz submission.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32793" y="5045373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485129" y="5071517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1078382" y="5093295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Result &amp; Performance Tracking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1078382" y="5373092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Generate and maintain quiz results and performance records for students and instructors.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32793" y="5773142"/>
            <a:ext cx="313920" cy="313928"/>
          </a:xfrm>
          <a:prstGeom prst="roundRect">
            <a:avLst>
              <a:gd name="adj" fmla="val 2427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485129" y="5799286"/>
            <a:ext cx="209247" cy="26164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kern="0" spc="-33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29"/>
          <p:cNvSpPr/>
          <p:nvPr/>
        </p:nvSpPr>
        <p:spPr>
          <a:xfrm>
            <a:off x="1078382" y="5821065"/>
            <a:ext cx="10451839" cy="217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kern="0" spc="-27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SOA/Microservice Architecture</a:t>
            </a:r>
            <a:endParaRPr lang="en-US" sz="1600" dirty="0"/>
          </a:p>
        </p:txBody>
      </p:sp>
      <p:sp>
        <p:nvSpPr>
          <p:cNvPr id="33" name="Text 30"/>
          <p:cNvSpPr/>
          <p:nvPr/>
        </p:nvSpPr>
        <p:spPr>
          <a:xfrm>
            <a:off x="1078382" y="6100862"/>
            <a:ext cx="10451839" cy="194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Apply SOA/microservice principles to achieve modularity, maintainability, scalability and structured API communication.</a:t>
            </a:r>
            <a:endParaRPr lang="en-US" sz="1200" dirty="0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41185377-0714-F288-B354-CC666613BFBD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Picture 35" descr="klh_logo_background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876895"/>
            <a:ext cx="1518902" cy="215305"/>
          </a:xfrm>
          <a:prstGeom prst="roundRect">
            <a:avLst>
              <a:gd name="adj" fmla="val 3539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503" y="927795"/>
            <a:ext cx="113404" cy="1134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6560" y="919361"/>
            <a:ext cx="1788373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LITERATURE SURVEY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661475" y="1134666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kern="0" spc="-56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Literature Survey</a:t>
            </a:r>
            <a:endParaRPr lang="en-US" sz="2750" dirty="0"/>
          </a:p>
        </p:txBody>
      </p:sp>
      <p:sp>
        <p:nvSpPr>
          <p:cNvPr id="6" name="Shape 3"/>
          <p:cNvSpPr/>
          <p:nvPr/>
        </p:nvSpPr>
        <p:spPr>
          <a:xfrm>
            <a:off x="661475" y="1737122"/>
            <a:ext cx="10868745" cy="3965575"/>
          </a:xfrm>
          <a:prstGeom prst="roundRect">
            <a:avLst>
              <a:gd name="adj" fmla="val 192"/>
            </a:avLst>
          </a:prstGeom>
          <a:noFill/>
          <a:ln w="635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61475" y="2085181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5"/>
          <p:cNvSpPr/>
          <p:nvPr/>
        </p:nvSpPr>
        <p:spPr>
          <a:xfrm>
            <a:off x="661475" y="3223816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6"/>
          <p:cNvSpPr/>
          <p:nvPr/>
        </p:nvSpPr>
        <p:spPr>
          <a:xfrm>
            <a:off x="661475" y="4362450"/>
            <a:ext cx="10868745" cy="8860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2622187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5010422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181571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9569806" y="1737122"/>
            <a:ext cx="8860" cy="3965575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668122" y="1743472"/>
            <a:ext cx="1954064" cy="341709"/>
          </a:xfrm>
          <a:custGeom>
            <a:avLst/>
            <a:gdLst/>
            <a:ahLst/>
            <a:cxnLst/>
            <a:rect l="l" t="t" r="r" b="b"/>
            <a:pathLst>
              <a:path w="1954064" h="341709">
                <a:moveTo>
                  <a:pt x="6350" y="0"/>
                </a:moveTo>
                <a:lnTo>
                  <a:pt x="1954064" y="0"/>
                </a:lnTo>
                <a:lnTo>
                  <a:pt x="1954064" y="341709"/>
                </a:lnTo>
                <a:lnTo>
                  <a:pt x="0" y="341709"/>
                </a:lnTo>
                <a:lnTo>
                  <a:pt x="0" y="6350"/>
                </a:lnTo>
                <a:arcTo wR="6350" hR="6350" stAng="10800000" swAng="5400000"/>
                <a:close/>
              </a:path>
            </a:pathLst>
          </a:cu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809803" y="1813520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Authors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2622187" y="1743472"/>
            <a:ext cx="2388235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2767042" y="1813520"/>
            <a:ext cx="270810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Title of the Paper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010422" y="1743472"/>
            <a:ext cx="2171150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5155277" y="1813520"/>
            <a:ext cx="249102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Methodology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7181571" y="1743472"/>
            <a:ext cx="2388235" cy="341709"/>
          </a:xfrm>
          <a:prstGeom prst="rect">
            <a:avLst/>
          </a:pr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7326427" y="1813520"/>
            <a:ext cx="270810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Inferences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569806" y="1743472"/>
            <a:ext cx="1954064" cy="341709"/>
          </a:xfrm>
          <a:custGeom>
            <a:avLst/>
            <a:gdLst/>
            <a:ahLst/>
            <a:cxnLst/>
            <a:rect l="l" t="t" r="r" b="b"/>
            <a:pathLst>
              <a:path w="1954064" h="341709">
                <a:moveTo>
                  <a:pt x="0" y="0"/>
                </a:moveTo>
                <a:lnTo>
                  <a:pt x="1947715" y="0"/>
                </a:lnTo>
                <a:arcTo wR="6350" hR="6350" stAng="16200000" swAng="5400000"/>
                <a:lnTo>
                  <a:pt x="1954064" y="341709"/>
                </a:lnTo>
                <a:lnTo>
                  <a:pt x="0" y="341709"/>
                </a:lnTo>
                <a:lnTo>
                  <a:pt x="0" y="0"/>
                </a:lnTo>
                <a:close/>
              </a:path>
            </a:pathLst>
          </a:custGeom>
          <a:solidFill>
            <a:srgbClr val="722F3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9714662" y="1813520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FFF6E5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Limitation / Future Work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9803" y="2158405"/>
            <a:ext cx="166752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Elshafey &amp; Ghoniemy (2021)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2767042" y="2158405"/>
            <a:ext cx="209852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Development of QMMS: A Case Study for Reliable Online Quiz Maker and Management System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5155277" y="2158405"/>
            <a:ext cx="1881438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Case study; web-based system design for quiz creation, management and MCQ-based assessment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326427" y="2158405"/>
            <a:ext cx="209852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Demonstrated reliable quiz creation, management and automated MCQ evaluation; reduced manual effort in assessment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9714662" y="2158405"/>
            <a:ext cx="166752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Limited to MCQ formats; lacks role-based access and scalable architecture; no microservice separation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809803" y="3297039"/>
            <a:ext cx="2277113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X. Ren et al. (2023)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2767042" y="3297039"/>
            <a:ext cx="20985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Design and Implementation of a Microservices-Based Online Learning Platform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5155277" y="3297039"/>
            <a:ext cx="188143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Microservices architecture using Spring MVC, RabbitMQ for inter-service communication in an e-learning context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7326427" y="3297039"/>
            <a:ext cx="2098523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Modular decomposition of learning platform into independent services improved maintainability and scalability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9714662" y="3297039"/>
            <a:ext cx="166752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Focused on course/video delivery; assessment and quiz management services not fully addressed</a:t>
            </a:r>
            <a:endParaRPr lang="en-US" sz="1100" dirty="0"/>
          </a:p>
        </p:txBody>
      </p:sp>
      <p:sp>
        <p:nvSpPr>
          <p:cNvPr id="34" name="Text 31"/>
          <p:cNvSpPr/>
          <p:nvPr/>
        </p:nvSpPr>
        <p:spPr>
          <a:xfrm>
            <a:off x="809803" y="4435673"/>
            <a:ext cx="1667528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Admiraal et al. (2023) — Online Learning Journal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2767042" y="4435673"/>
            <a:ext cx="2098523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Online Assessment in Higher Education: A Systematic Review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155277" y="4435673"/>
            <a:ext cx="1881438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Systematic review of 115 studies on online assessment tools and practices in higher education (2014–2022)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7326427" y="4435673"/>
            <a:ext cx="2098523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assessment was used in 40% of studies; quizzes with MCQs are the dominant format for automated evaluation</a:t>
            </a:r>
            <a:endParaRPr lang="en-US" sz="1100" dirty="0"/>
          </a:p>
        </p:txBody>
      </p:sp>
      <p:sp>
        <p:nvSpPr>
          <p:cNvPr id="38" name="Text 35"/>
          <p:cNvSpPr/>
          <p:nvPr/>
        </p:nvSpPr>
        <p:spPr>
          <a:xfrm>
            <a:off x="9714662" y="4435673"/>
            <a:ext cx="1667528" cy="1190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Most systems are monolithic or platform-specific; scalability and interoperability across LMS platforms remain open challenges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661475" y="5822255"/>
            <a:ext cx="11478330" cy="158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Sources: Future Computing and Informatics Journal (2021); EIMT 2023, AHSSEH Vol. 8; Online Learning Journal Vol. 27, Issue 1 (2023).</a:t>
            </a:r>
            <a:endParaRPr lang="en-US" sz="11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9F0F4E42-5040-7F45-C370-466E938E1152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 descr="klh_logo_background_fix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8439"/>
            <a:ext cx="1678045" cy="171946"/>
          </a:xfrm>
          <a:prstGeom prst="roundRect">
            <a:avLst>
              <a:gd name="adj" fmla="val 443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9" y="569119"/>
            <a:ext cx="90584" cy="90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166" y="562372"/>
            <a:ext cx="2016075" cy="10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PROBLEM GAP IDENTIFICATION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27472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4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Problem Gap Identification</a:t>
            </a:r>
            <a:endParaRPr lang="en-US" sz="22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6" y="1259482"/>
            <a:ext cx="3401530" cy="259273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38179" y="1385391"/>
            <a:ext cx="3098921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Approaches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838179" y="1630164"/>
            <a:ext cx="3098921" cy="91717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Monolithic LMS platforms (Moodle, Blackboard) provide quiz features but as tightly coupled modules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Web-based quiz systems offer MCQ automation but lack modular service separation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Microservice-based e-learning platforms address course delivery but not assessment management</a:t>
            </a:r>
            <a:endParaRPr lang="en-US" sz="12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345573" y="1259482"/>
            <a:ext cx="3513050" cy="260464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22277" y="1385391"/>
            <a:ext cx="321044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Gaps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522277" y="1630164"/>
            <a:ext cx="3210440" cy="1399480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Limited modular separation of assessment functions (auth, question management, quiz management, results)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Difficulty integrating independent services through APIs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Scalability and maintainability concerns in monolithic designs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Absence of secure role-based access for multi-user environments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Lack of centralized but modular management of assessment data</a:t>
            </a:r>
            <a:endParaRPr lang="en-US" sz="12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41191" y="1259483"/>
            <a:ext cx="3401531" cy="259273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317895" y="1385391"/>
            <a:ext cx="3098921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Opportunity</a:t>
            </a:r>
          </a:p>
          <a:p>
            <a:pPr marL="0" indent="0" algn="l">
              <a:lnSpc>
                <a:spcPct val="104000"/>
              </a:lnSpc>
              <a:buNone/>
            </a:pP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8317895" y="1630164"/>
            <a:ext cx="3098921" cy="869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proposed </a:t>
            </a:r>
            <a:r>
              <a:rPr lang="en-US" sz="1200" b="1" dirty="0">
                <a:solidFill>
                  <a:srgbClr val="402B2C"/>
                </a:solidFill>
                <a:latin typeface="Libre Franklin Bold" pitchFamily="34" charset="0"/>
                <a:ea typeface="Libre Franklin Bold" pitchFamily="34" charset="-122"/>
                <a:cs typeface="Libre Franklin Bold" pitchFamily="34" charset="-120"/>
              </a:rPr>
              <a:t>Learning Management: Online Quiz System</a:t>
            </a: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 addresses these gaps through a service-oriented/microservice architecture that separates authentication, user management, question bank, quiz management, assessment and result services — each communicating through defined APIs.</a:t>
            </a:r>
            <a:endParaRPr lang="en-US" sz="12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2493" y="4014229"/>
            <a:ext cx="6658374" cy="2871306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2863967" y="6331275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Proposed Opportunity</a:t>
            </a:r>
            <a:endParaRPr lang="en-US" sz="1250" b="1" dirty="0"/>
          </a:p>
        </p:txBody>
      </p:sp>
      <p:sp>
        <p:nvSpPr>
          <p:cNvPr id="17" name="Text 10"/>
          <p:cNvSpPr/>
          <p:nvPr/>
        </p:nvSpPr>
        <p:spPr>
          <a:xfrm>
            <a:off x="2863967" y="5656167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Research Gap</a:t>
            </a:r>
            <a:endParaRPr lang="en-US" sz="1250" b="1" dirty="0"/>
          </a:p>
        </p:txBody>
      </p:sp>
      <p:sp>
        <p:nvSpPr>
          <p:cNvPr id="18" name="Text 11"/>
          <p:cNvSpPr/>
          <p:nvPr/>
        </p:nvSpPr>
        <p:spPr>
          <a:xfrm>
            <a:off x="2835017" y="5022450"/>
            <a:ext cx="1510556" cy="1799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Identified Limitations</a:t>
            </a:r>
            <a:endParaRPr lang="en-US" sz="1250" b="1" dirty="0"/>
          </a:p>
        </p:txBody>
      </p:sp>
      <p:sp>
        <p:nvSpPr>
          <p:cNvPr id="19" name="Text 12"/>
          <p:cNvSpPr/>
          <p:nvPr/>
        </p:nvSpPr>
        <p:spPr>
          <a:xfrm>
            <a:off x="2863967" y="4347343"/>
            <a:ext cx="1510556" cy="1799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kern="0" spc="-25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Existing Systems</a:t>
            </a:r>
            <a:endParaRPr lang="en-US" sz="1250" b="1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0515149-BC53-98CC-4CD2-94945E2FC26D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 descr="klh_logo_background_fix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4371"/>
            <a:ext cx="1930947" cy="171946"/>
          </a:xfrm>
          <a:prstGeom prst="roundRect">
            <a:avLst>
              <a:gd name="adj" fmla="val 443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39" y="565051"/>
            <a:ext cx="90584" cy="905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65166" y="558304"/>
            <a:ext cx="2268977" cy="104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INNOVATION, CREATIVITY &amp; NOVELTY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661475" y="723404"/>
            <a:ext cx="10868745" cy="3539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kern="0" spc="-45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Innovation, Creativity, and Novelty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661475" y="1255414"/>
            <a:ext cx="2168372" cy="2372950"/>
          </a:xfrm>
          <a:prstGeom prst="roundRect">
            <a:avLst>
              <a:gd name="adj" fmla="val 444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781030" y="1374973"/>
            <a:ext cx="192926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Innovation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1030" y="1619746"/>
            <a:ext cx="1929260" cy="91717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Service-oriented organization of all quiz system functions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Independent microservices for each major function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API-based inter-service communication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2897710" y="1255414"/>
            <a:ext cx="2168372" cy="2372949"/>
          </a:xfrm>
          <a:prstGeom prst="roundRect">
            <a:avLst>
              <a:gd name="adj" fmla="val 444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3017266" y="1374973"/>
            <a:ext cx="1929260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Creativity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017266" y="1619746"/>
            <a:ext cx="1929260" cy="2008618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Role-based access: Student / Instructor / Admin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Centralized question bank and quiz management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Automated objective-question evaluation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Result and performance tracking per student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61475" y="3733139"/>
            <a:ext cx="4404607" cy="1789276"/>
          </a:xfrm>
          <a:prstGeom prst="roundRect">
            <a:avLst>
              <a:gd name="adj" fmla="val 671"/>
            </a:avLst>
          </a:prstGeom>
          <a:solidFill>
            <a:srgbClr val="F4E8D2"/>
          </a:solidFill>
          <a:ln w="635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819923" y="3806477"/>
            <a:ext cx="4165496" cy="1769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kern="0" spc="-2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Novelty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729339" y="4112254"/>
            <a:ext cx="4165496" cy="650974"/>
          </a:xfrm>
          <a:prstGeom prst="rect">
            <a:avLst/>
          </a:prstGeom>
          <a:noFill/>
          <a:ln/>
        </p:spPr>
        <p:txBody>
          <a:bodyPr wrap="square" lIns="0" tIns="45305" rIns="0" bIns="0" rtlCol="0" anchor="t">
            <a:noAutofit/>
          </a:bodyPr>
          <a:lstStyle/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Modularity — each service is independently deployable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Maintainability — changes in one service do not affect others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Scalability — services scale independently based on load</a:t>
            </a:r>
            <a:endParaRPr lang="en-US" sz="1200" dirty="0"/>
          </a:p>
          <a:p>
            <a:pPr marL="172720" indent="-172720" algn="l">
              <a:lnSpc>
                <a:spcPct val="107000"/>
              </a:lnSpc>
              <a:buSzPct val="100000"/>
              <a:buChar char="•"/>
            </a:pPr>
            <a:r>
              <a:rPr lang="en-US" sz="12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Structured inter-service communication through APIs</a:t>
            </a:r>
            <a:endParaRPr lang="en-US" sz="1200" dirty="0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3954B15-D1AA-883B-B8BA-6081D78931B9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8692D85B-330B-B604-8CD8-85E989FD37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33944" y="698658"/>
            <a:ext cx="6986337" cy="5773262"/>
          </a:xfrm>
          <a:prstGeom prst="rect">
            <a:avLst/>
          </a:prstGeom>
        </p:spPr>
      </p:pic>
      <p:pic>
        <p:nvPicPr>
          <p:cNvPr id="43" name="Picture 42" descr="klh_logo_background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61475" y="529332"/>
            <a:ext cx="1493899" cy="160338"/>
          </a:xfrm>
          <a:prstGeom prst="roundRect">
            <a:avLst>
              <a:gd name="adj" fmla="val 4752"/>
            </a:avLst>
          </a:prstGeom>
          <a:solidFill>
            <a:srgbClr val="F7EBD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775" y="567234"/>
            <a:ext cx="84433" cy="8443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1375" y="560983"/>
            <a:ext cx="1850284" cy="970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FEASIBILITY &amp; PROJECT PLAN</a:t>
            </a:r>
            <a:endParaRPr lang="en-US" sz="650" dirty="0"/>
          </a:p>
        </p:txBody>
      </p:sp>
      <p:sp>
        <p:nvSpPr>
          <p:cNvPr id="5" name="Text 2"/>
          <p:cNvSpPr/>
          <p:nvPr/>
        </p:nvSpPr>
        <p:spPr>
          <a:xfrm>
            <a:off x="661475" y="713184"/>
            <a:ext cx="10868745" cy="329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kern="0" spc="-42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Feasibility and Project Plan</a:t>
            </a:r>
            <a:endParaRPr lang="en-US" sz="2050" dirty="0"/>
          </a:p>
        </p:txBody>
      </p:sp>
      <p:sp>
        <p:nvSpPr>
          <p:cNvPr id="6" name="Shape 3"/>
          <p:cNvSpPr/>
          <p:nvPr/>
        </p:nvSpPr>
        <p:spPr>
          <a:xfrm>
            <a:off x="543203" y="1419959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47492" y="1561856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Technical Feasibility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68" y="1784637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Implementable using standard web technologies, REST APIs, relational databases and SOA/microservice frameworks.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543205" y="2394943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61469" y="2481129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Operational Feasibility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1470" y="2774189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Students, instructors and administrators interact through role-specific web interfaces with clearly defined access controls.</a:t>
            </a:r>
            <a:endParaRPr lang="en-US" sz="800" dirty="0"/>
          </a:p>
        </p:txBody>
      </p:sp>
      <p:sp>
        <p:nvSpPr>
          <p:cNvPr id="12" name="Shape 9"/>
          <p:cNvSpPr/>
          <p:nvPr/>
        </p:nvSpPr>
        <p:spPr>
          <a:xfrm>
            <a:off x="543210" y="3453308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61471" y="3627471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Economic Feasibility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61472" y="3933989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Developed using open-source technologies; no specialized hardware required. Suitable for academic project budget.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543208" y="4412505"/>
            <a:ext cx="3080268" cy="986631"/>
          </a:xfrm>
          <a:prstGeom prst="roundRect">
            <a:avLst>
              <a:gd name="adj" fmla="val 772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1473" y="4531651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Conclusion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61475" y="4824711"/>
            <a:ext cx="2843737" cy="526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The Online Quiz System provides an organized approach to online assessment through automated evaluation, centralized management and a modular SOA/microservice architecture.</a:t>
            </a:r>
            <a:endParaRPr lang="en-US" sz="800" dirty="0"/>
          </a:p>
        </p:txBody>
      </p:sp>
      <p:sp>
        <p:nvSpPr>
          <p:cNvPr id="18" name="Shape 15"/>
          <p:cNvSpPr/>
          <p:nvPr/>
        </p:nvSpPr>
        <p:spPr>
          <a:xfrm>
            <a:off x="543210" y="5565841"/>
            <a:ext cx="3080268" cy="855067"/>
          </a:xfrm>
          <a:prstGeom prst="roundRect">
            <a:avLst>
              <a:gd name="adj" fmla="val 891"/>
            </a:avLst>
          </a:prstGeom>
          <a:solidFill>
            <a:srgbClr val="FFF6E5"/>
          </a:solidFill>
          <a:ln w="12700">
            <a:solidFill>
              <a:srgbClr val="DACEB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61474" y="5662349"/>
            <a:ext cx="2843737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Future Work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61475" y="5923393"/>
            <a:ext cx="2843737" cy="3946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0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Enhanced analytics, advanced reporting, additional assessment types, improved scalability and quiz management features.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4005658" y="1190427"/>
            <a:ext cx="7530812" cy="1649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00" kern="0" spc="-21" dirty="0">
                <a:solidFill>
                  <a:srgbClr val="402B2C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Project Timeline — Development Phases</a:t>
            </a:r>
            <a:endParaRPr lang="en-US" sz="1000" dirty="0"/>
          </a:p>
        </p:txBody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05658" y="1421606"/>
            <a:ext cx="4894934" cy="2978348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4005658" y="4466233"/>
            <a:ext cx="8140397" cy="105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650" dirty="0">
                <a:solidFill>
                  <a:srgbClr val="402B2C"/>
                </a:solidFill>
                <a:latin typeface="Libre Franklin" pitchFamily="34" charset="0"/>
                <a:ea typeface="Libre Franklin" pitchFamily="34" charset="-122"/>
                <a:cs typeface="Libre Franklin" pitchFamily="34" charset="-120"/>
              </a:rPr>
              <a:t>Timeline chart shows approximate duration in weeks for each project phase. Implementation and Integration are the most effort-intensive phases. Total estimated duration: ~13 weeks.</a:t>
            </a:r>
            <a:endParaRPr lang="en-US" sz="650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170CAF8-8DA1-BF9C-1389-863FC290BBF7}"/>
              </a:ext>
            </a:extLst>
          </p:cNvPr>
          <p:cNvSpPr/>
          <p:nvPr/>
        </p:nvSpPr>
        <p:spPr>
          <a:xfrm>
            <a:off x="10990729" y="6311153"/>
            <a:ext cx="1129553" cy="484094"/>
          </a:xfrm>
          <a:prstGeom prst="rect">
            <a:avLst/>
          </a:prstGeom>
          <a:solidFill>
            <a:srgbClr val="FFF6E5"/>
          </a:solidFill>
          <a:ln>
            <a:solidFill>
              <a:srgbClr val="FFF6E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 descr="klh_logo_background_fix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1117</Words>
  <Application>Microsoft Macintosh PowerPoint</Application>
  <PresentationFormat>Widescreen</PresentationFormat>
  <Paragraphs>145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Libre Franklin Bold</vt:lpstr>
      <vt:lpstr>Libre Franklin</vt:lpstr>
      <vt:lpstr>Arial</vt:lpstr>
      <vt:lpstr>Gelasio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Manaswini Divi .</cp:lastModifiedBy>
  <cp:revision>15</cp:revision>
  <dcterms:created xsi:type="dcterms:W3CDTF">2026-08-18T05:08:17Z</dcterms:created>
  <dcterms:modified xsi:type="dcterms:W3CDTF">2026-08-18T06:01:54Z</dcterms:modified>
</cp:coreProperties>
</file>